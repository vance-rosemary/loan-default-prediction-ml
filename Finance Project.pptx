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6"/>
  </p:notesMasterIdLst>
  <p:handoutMasterIdLst>
    <p:handoutMasterId r:id="rId17"/>
  </p:handoutMasterIdLst>
  <p:sldIdLst>
    <p:sldId id="444" r:id="rId2"/>
    <p:sldId id="416" r:id="rId3"/>
    <p:sldId id="417" r:id="rId4"/>
    <p:sldId id="445" r:id="rId5"/>
    <p:sldId id="446" r:id="rId6"/>
    <p:sldId id="447" r:id="rId7"/>
    <p:sldId id="448" r:id="rId8"/>
    <p:sldId id="449" r:id="rId9"/>
    <p:sldId id="450" r:id="rId10"/>
    <p:sldId id="451" r:id="rId11"/>
    <p:sldId id="452" r:id="rId12"/>
    <p:sldId id="453" r:id="rId13"/>
    <p:sldId id="454" r:id="rId14"/>
    <p:sldId id="443" r:id="rId15"/>
  </p:sldIdLst>
  <p:sldSz cx="9144000" cy="5143500" type="screen16x9"/>
  <p:notesSz cx="6858000" cy="9144000"/>
  <p:embeddedFontLst>
    <p:embeddedFont>
      <p:font typeface="Consolas" panose="020B0609020204030204" pitchFamily="49" charset="0"/>
      <p:regular r:id="rId18"/>
      <p:bold r:id="rId19"/>
      <p:italic r:id="rId20"/>
      <p:boldItalic r:id="rId21"/>
    </p:embeddedFont>
    <p:embeddedFont>
      <p:font typeface="Open Sans" panose="020B0606030504020204" pitchFamily="34" charset="0"/>
      <p:regular r:id="rId22"/>
      <p:bold r:id="rId23"/>
      <p:italic r:id="rId24"/>
      <p:boldItalic r:id="rId25"/>
    </p:embeddedFont>
    <p:embeddedFont>
      <p:font typeface="Philosopher" panose="020B0604020202020204" charset="0"/>
      <p:regular r:id="rId26"/>
      <p:bold r:id="rId27"/>
      <p:italic r:id="rId28"/>
      <p:boldItalic r:id="rId29"/>
    </p:embeddedFont>
  </p:embeddedFontLst>
  <p:custDataLst>
    <p:tags r:id="rId3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42" userDrawn="1">
          <p15:clr>
            <a:srgbClr val="A4A3A4"/>
          </p15:clr>
        </p15:guide>
        <p15:guide id="2" pos="3084" userDrawn="1">
          <p15:clr>
            <a:srgbClr val="A4A3A4"/>
          </p15:clr>
        </p15:guide>
        <p15:guide id="3" orient="horz" pos="3087" userDrawn="1">
          <p15:clr>
            <a:srgbClr val="A4A3A4"/>
          </p15:clr>
        </p15:guide>
        <p15:guide id="4" orient="horz" pos="463" userDrawn="1">
          <p15:clr>
            <a:srgbClr val="A4A3A4"/>
          </p15:clr>
        </p15:guide>
        <p15:guide id="5" orient="horz" pos="2850" userDrawn="1">
          <p15:clr>
            <a:srgbClr val="A4A3A4"/>
          </p15:clr>
        </p15:guide>
        <p15:guide id="6" orient="horz" pos="2685" userDrawn="1">
          <p15:clr>
            <a:srgbClr val="A4A3A4"/>
          </p15:clr>
        </p15:guide>
        <p15:guide id="7" pos="2818" userDrawn="1">
          <p15:clr>
            <a:srgbClr val="A4A3A4"/>
          </p15:clr>
        </p15:guide>
        <p15:guide id="8" orient="horz" pos="1620" userDrawn="1">
          <p15:clr>
            <a:srgbClr val="A4A3A4"/>
          </p15:clr>
        </p15:guide>
        <p15:guide id="9" orient="horz" pos="724" userDrawn="1">
          <p15:clr>
            <a:srgbClr val="A4A3A4"/>
          </p15:clr>
        </p15:guide>
        <p15:guide id="10" pos="32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哒哒 熊猫" initials="哒哒"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6AF92"/>
    <a:srgbClr val="FCC490"/>
    <a:srgbClr val="2A2A2A"/>
    <a:srgbClr val="1D1D1E"/>
    <a:srgbClr val="1C1C1E"/>
    <a:srgbClr val="181718"/>
    <a:srgbClr val="FCC896"/>
    <a:srgbClr val="2B2B2B"/>
    <a:srgbClr val="0B0B0B"/>
    <a:srgbClr val="CC98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B0C2D-1C82-4EF1-8E2E-84384B1E1DFB}" v="39" dt="2026-05-15T13:45:27.801"/>
    <p1510:client id="{6B2EC168-ADBE-4487-8A74-34A4A2E959DA}" v="318" dt="2026-05-13T16:03:49.742"/>
    <p1510:client id="{834BC156-AC7F-4388-A5A8-EB48F3D8BFB7}" v="914" dt="2026-05-13T15:02:43.333"/>
    <p1510:client id="{B0264023-EC4D-46C6-9212-0D0E7450B4AA}" v="592" dt="2026-05-15T13:37:10.2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31" autoAdjust="0"/>
    <p:restoredTop sz="95244" autoAdjust="0"/>
  </p:normalViewPr>
  <p:slideViewPr>
    <p:cSldViewPr snapToGrid="0" showGuides="1">
      <p:cViewPr>
        <p:scale>
          <a:sx n="96" d="100"/>
          <a:sy n="96" d="100"/>
        </p:scale>
        <p:origin x="1325" y="274"/>
      </p:cViewPr>
      <p:guideLst>
        <p:guide pos="142"/>
        <p:guide pos="3084"/>
        <p:guide orient="horz" pos="3087"/>
        <p:guide orient="horz" pos="463"/>
        <p:guide orient="horz" pos="2850"/>
        <p:guide orient="horz" pos="2685"/>
        <p:guide pos="2818"/>
        <p:guide orient="horz" pos="1620"/>
        <p:guide orient="horz" pos="724"/>
        <p:guide pos="324"/>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Open Sans" panose="020B0606030504020204" charset="0"/>
              <a:ea typeface="Open Sans" panose="020B0606030504020204" charset="0"/>
              <a:cs typeface="Philosopher" panose="00000500000000000000"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Open Sans" panose="020B0606030504020204" charset="0"/>
                <a:ea typeface="Open Sans" panose="020B0606030504020204" charset="0"/>
                <a:cs typeface="Philosopher" panose="00000500000000000000" charset="0"/>
              </a:rPr>
              <a:t>2026/5/15</a:t>
            </a:fld>
            <a:endParaRPr lang="zh-CN" altLang="en-US">
              <a:latin typeface="Open Sans" panose="020B0606030504020204" charset="0"/>
              <a:ea typeface="Open Sans" panose="020B0606030504020204" charset="0"/>
              <a:cs typeface="Philosopher" panose="00000500000000000000"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Open Sans" panose="020B0606030504020204" charset="0"/>
              <a:ea typeface="Open Sans" panose="020B0606030504020204" charset="0"/>
              <a:cs typeface="Philosopher" panose="00000500000000000000"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Open Sans" panose="020B0606030504020204" charset="0"/>
                <a:ea typeface="Open Sans" panose="020B0606030504020204" charset="0"/>
                <a:cs typeface="Philosopher" panose="00000500000000000000" charset="0"/>
              </a:rPr>
              <a:t>‹#›</a:t>
            </a:fld>
            <a:endParaRPr lang="zh-CN" altLang="en-US">
              <a:latin typeface="Open Sans" panose="020B0606030504020204" charset="0"/>
              <a:ea typeface="Open Sans" panose="020B0606030504020204" charset="0"/>
              <a:cs typeface="Philosopher" panose="00000500000000000000"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Open Sans" panose="020B0606030504020204" charset="0"/>
                <a:ea typeface="Open Sans" panose="020B0606030504020204" charset="0"/>
                <a:cs typeface="Philosopher" panose="00000500000000000000"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Open Sans" panose="020B0606030504020204" charset="0"/>
                <a:ea typeface="Open Sans" panose="020B0606030504020204" charset="0"/>
                <a:cs typeface="Philosopher" panose="00000500000000000000" charset="0"/>
              </a:defRPr>
            </a:lvl1pPr>
          </a:lstStyle>
          <a:p>
            <a:fld id="{D2A48B96-639E-45A3-A0BA-2464DFDB1FAA}" type="datetimeFigureOut">
              <a:rPr lang="zh-CN" altLang="en-US" smtClean="0"/>
              <a:t>2026/5/15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Open Sans" panose="020B0606030504020204" charset="0"/>
                <a:ea typeface="Open Sans" panose="020B0606030504020204" charset="0"/>
                <a:cs typeface="Philosopher" panose="00000500000000000000"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Open Sans" panose="020B0606030504020204" charset="0"/>
                <a:ea typeface="Open Sans" panose="020B0606030504020204" charset="0"/>
                <a:cs typeface="Philosopher" panose="00000500000000000000" charset="0"/>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Open Sans" panose="020B0606030504020204" charset="0"/>
        <a:ea typeface="Open Sans" panose="020B0606030504020204" charset="0"/>
        <a:cs typeface="Philosopher" panose="00000500000000000000" charset="0"/>
      </a:defRPr>
    </a:lvl1pPr>
    <a:lvl2pPr marL="457200" algn="l" defTabSz="914400" rtl="0" eaLnBrk="1" latinLnBrk="0" hangingPunct="1">
      <a:defRPr sz="1200" kern="1200">
        <a:solidFill>
          <a:schemeClr val="tx1"/>
        </a:solidFill>
        <a:latin typeface="Open Sans" panose="020B0606030504020204" charset="0"/>
        <a:ea typeface="Open Sans" panose="020B0606030504020204" charset="0"/>
        <a:cs typeface="Philosopher" panose="00000500000000000000" charset="0"/>
      </a:defRPr>
    </a:lvl2pPr>
    <a:lvl3pPr marL="914400" algn="l" defTabSz="914400" rtl="0" eaLnBrk="1" latinLnBrk="0" hangingPunct="1">
      <a:defRPr sz="1200" kern="1200">
        <a:solidFill>
          <a:schemeClr val="tx1"/>
        </a:solidFill>
        <a:latin typeface="Open Sans" panose="020B0606030504020204" charset="0"/>
        <a:ea typeface="Open Sans" panose="020B0606030504020204" charset="0"/>
        <a:cs typeface="Philosopher" panose="00000500000000000000" charset="0"/>
      </a:defRPr>
    </a:lvl3pPr>
    <a:lvl4pPr marL="1371600" algn="l" defTabSz="914400" rtl="0" eaLnBrk="1" latinLnBrk="0" hangingPunct="1">
      <a:defRPr sz="1200" kern="1200">
        <a:solidFill>
          <a:schemeClr val="tx1"/>
        </a:solidFill>
        <a:latin typeface="Open Sans" panose="020B0606030504020204" charset="0"/>
        <a:ea typeface="Open Sans" panose="020B0606030504020204" charset="0"/>
        <a:cs typeface="Philosopher" panose="00000500000000000000" charset="0"/>
      </a:defRPr>
    </a:lvl4pPr>
    <a:lvl5pPr marL="1828800" algn="l" defTabSz="914400" rtl="0" eaLnBrk="1" latinLnBrk="0" hangingPunct="1">
      <a:defRPr sz="1200" kern="1200">
        <a:solidFill>
          <a:schemeClr val="tx1"/>
        </a:solidFill>
        <a:latin typeface="Open Sans" panose="020B0606030504020204" charset="0"/>
        <a:ea typeface="Open Sans" panose="020B0606030504020204" charset="0"/>
        <a:cs typeface="Philosopher" panose="00000500000000000000"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ood morning/afternoon everyone.</a:t>
            </a:r>
          </a:p>
          <a:p>
            <a:r>
              <a:rPr lang="en-US"/>
              <a:t>My project focuses on predicting loan defaults using machine learning techniques in the financial industry.</a:t>
            </a:r>
          </a:p>
          <a:p>
            <a:r>
              <a:rPr lang="en-US"/>
              <a:t>The goal was to develop predictive models capable of identifying risky borrowers using historical financial and demographic data.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This presentation will cover the project problem, objectives, dataset preparation, machine learning models used, evaluation results, key findings, and final conclusions.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C4F0-DAFF-579B-586F-D6B7B7374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BEEFC2-6A71-87BF-4016-0C3F8BD22D11}"/>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B072EF87-F38C-AFBE-DBA0-6C30DB875439}"/>
              </a:ext>
            </a:extLst>
          </p:cNvPr>
          <p:cNvSpPr>
            <a:spLocks noGrp="1"/>
          </p:cNvSpPr>
          <p:nvPr>
            <p:ph type="body" idx="3"/>
          </p:nvPr>
        </p:nvSpPr>
        <p:spPr/>
        <p:txBody>
          <a:bodyPr/>
          <a:lstStyle/>
          <a:p>
            <a:r>
              <a:rPr lang="en-US"/>
              <a:t>Financial institutions need effective ways of assessing borrower risk before issuing loans.</a:t>
            </a:r>
            <a:br>
              <a:rPr lang="en-US" dirty="0"/>
            </a:br>
            <a:r>
              <a:rPr lang="en-US"/>
              <a:t> However, traditional assessment methods may not always detect high-risk borrowers accurately.</a:t>
            </a:r>
            <a:br>
              <a:rPr lang="en-US" dirty="0"/>
            </a:br>
            <a:r>
              <a:rPr lang="en-US"/>
              <a:t> Therefore, this project investigates how machine learning can be used to improve loan default prediction.</a:t>
            </a:r>
          </a:p>
          <a:p>
            <a:endParaRPr lang="en-US" altLang="en-US" dirty="0">
              <a:cs typeface="Open Sans"/>
            </a:endParaRPr>
          </a:p>
        </p:txBody>
      </p:sp>
    </p:spTree>
    <p:extLst>
      <p:ext uri="{BB962C8B-B14F-4D97-AF65-F5344CB8AC3E}">
        <p14:creationId xmlns:p14="http://schemas.microsoft.com/office/powerpoint/2010/main" val="4022528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9145F-26F0-7448-6BF5-C125E20994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30B023-22C8-C1EA-35FE-E056B28E9288}"/>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8B422D11-48AF-A02B-A677-359FDF4D9D36}"/>
              </a:ext>
            </a:extLst>
          </p:cNvPr>
          <p:cNvSpPr>
            <a:spLocks noGrp="1"/>
          </p:cNvSpPr>
          <p:nvPr>
            <p:ph type="body" idx="3"/>
          </p:nvPr>
        </p:nvSpPr>
        <p:spPr/>
        <p:txBody>
          <a:bodyPr/>
          <a:lstStyle/>
          <a:p>
            <a:r>
              <a:rPr lang="en-US"/>
              <a:t>The main goal of this project was to develop a predictive machine learning model capable of identifying risky borrowers.</a:t>
            </a:r>
            <a:br>
              <a:rPr lang="en-US" dirty="0"/>
            </a:br>
            <a:r>
              <a:rPr lang="en-US"/>
              <a:t> Additional objectives included analyzing borrower data, evaluating model performance, and understanding how predictive analytics can support financial institutions.</a:t>
            </a:r>
          </a:p>
        </p:txBody>
      </p:sp>
    </p:spTree>
    <p:extLst>
      <p:ext uri="{BB962C8B-B14F-4D97-AF65-F5344CB8AC3E}">
        <p14:creationId xmlns:p14="http://schemas.microsoft.com/office/powerpoint/2010/main" val="3592172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33817-4EF4-B1EF-FDF5-6DF5EEDF00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8F5AEE-7D90-0840-84E2-33698039EE85}"/>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ED9173E8-E062-862E-555A-77828827B94C}"/>
              </a:ext>
            </a:extLst>
          </p:cNvPr>
          <p:cNvSpPr>
            <a:spLocks noGrp="1"/>
          </p:cNvSpPr>
          <p:nvPr>
            <p:ph type="body" idx="3"/>
          </p:nvPr>
        </p:nvSpPr>
        <p:spPr/>
        <p:txBody>
          <a:bodyPr/>
          <a:lstStyle/>
          <a:p>
            <a:r>
              <a:rPr lang="en-US" dirty="0">
                <a:latin typeface="Open Sans"/>
                <a:ea typeface="Open Sans"/>
                <a:cs typeface="Open Sans"/>
              </a:rPr>
              <a:t>The dataset contained 5000 borrower records with both financial and demographic variables.</a:t>
            </a:r>
            <a:br>
              <a:rPr lang="en-US" dirty="0">
                <a:cs typeface="Open Sans"/>
              </a:rPr>
            </a:br>
            <a:r>
              <a:rPr lang="en-US" dirty="0">
                <a:latin typeface="Open Sans"/>
                <a:ea typeface="Open Sans"/>
                <a:cs typeface="Open Sans"/>
              </a:rPr>
              <a:t> Important features included loan amount, interest rate, loan term, and credit score.</a:t>
            </a:r>
            <a:br>
              <a:rPr lang="en-US" dirty="0">
                <a:cs typeface="Open Sans"/>
              </a:rPr>
            </a:br>
            <a:r>
              <a:rPr lang="en-US" dirty="0">
                <a:latin typeface="Open Sans"/>
                <a:ea typeface="Open Sans"/>
                <a:cs typeface="Open Sans"/>
              </a:rPr>
              <a:t> The target variable, </a:t>
            </a:r>
            <a:r>
              <a:rPr lang="en-US" dirty="0" err="1">
                <a:latin typeface="Open Sans"/>
                <a:ea typeface="Open Sans"/>
                <a:cs typeface="Open Sans"/>
              </a:rPr>
              <a:t>default_status</a:t>
            </a:r>
            <a:r>
              <a:rPr lang="en-US" dirty="0">
                <a:latin typeface="Open Sans"/>
                <a:ea typeface="Open Sans"/>
                <a:cs typeface="Open Sans"/>
              </a:rPr>
              <a:t>, indicated whether a borrower defaulted on a loan or not.</a:t>
            </a:r>
          </a:p>
        </p:txBody>
      </p:sp>
    </p:spTree>
    <p:extLst>
      <p:ext uri="{BB962C8B-B14F-4D97-AF65-F5344CB8AC3E}">
        <p14:creationId xmlns:p14="http://schemas.microsoft.com/office/powerpoint/2010/main" val="861961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CFA60-D318-1C3C-0DD4-240C111ABB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1F5B8-21E9-D40F-30E7-2AD7A1C3E0AE}"/>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8DFB5AEC-4BB2-8C5A-4B1A-0B44C9FEABEB}"/>
              </a:ext>
            </a:extLst>
          </p:cNvPr>
          <p:cNvSpPr>
            <a:spLocks noGrp="1"/>
          </p:cNvSpPr>
          <p:nvPr>
            <p:ph type="body" idx="3"/>
          </p:nvPr>
        </p:nvSpPr>
        <p:spPr/>
        <p:txBody>
          <a:bodyPr/>
          <a:lstStyle/>
          <a:p>
            <a:r>
              <a:rPr lang="en-US"/>
              <a:t>Data preprocessing was necessary to prepare the raw dataset for machine learning. Categorical variables were converted into numerical format, unnecessary columns were removed, and the data was split into training and testing sets before model training</a:t>
            </a:r>
          </a:p>
        </p:txBody>
      </p:sp>
    </p:spTree>
    <p:extLst>
      <p:ext uri="{BB962C8B-B14F-4D97-AF65-F5344CB8AC3E}">
        <p14:creationId xmlns:p14="http://schemas.microsoft.com/office/powerpoint/2010/main" val="2448317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FBC3A-6151-884F-E92D-280BE4A32A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2F8D8A-7DBB-BAB4-F50C-8151F6C25535}"/>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3BF19D6C-8021-D2B0-D1B0-F9D7BB5CD3FC}"/>
              </a:ext>
            </a:extLst>
          </p:cNvPr>
          <p:cNvSpPr>
            <a:spLocks noGrp="1"/>
          </p:cNvSpPr>
          <p:nvPr>
            <p:ph type="body" idx="3"/>
          </p:nvPr>
        </p:nvSpPr>
        <p:spPr/>
        <p:txBody>
          <a:bodyPr/>
          <a:lstStyle/>
          <a:p>
            <a:r>
              <a:rPr lang="en-US"/>
              <a:t>Two classification algorithms were implemented in this project: Logistic Regression and Random Forest. Logistic Regression was used because it performs well in binary classification problems, while Random Forest was used to improve prediction performance using multiple decision trees.</a:t>
            </a:r>
          </a:p>
        </p:txBody>
      </p:sp>
    </p:spTree>
    <p:extLst>
      <p:ext uri="{BB962C8B-B14F-4D97-AF65-F5344CB8AC3E}">
        <p14:creationId xmlns:p14="http://schemas.microsoft.com/office/powerpoint/2010/main" val="3686624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3DD47-B9FA-D60F-99B6-1AC1BBDA7E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7FB604-B784-FAF6-2335-78705515CE2D}"/>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68A40812-133A-5F43-F79F-185C5BACE44D}"/>
              </a:ext>
            </a:extLst>
          </p:cNvPr>
          <p:cNvSpPr>
            <a:spLocks noGrp="1"/>
          </p:cNvSpPr>
          <p:nvPr>
            <p:ph type="body" idx="3"/>
          </p:nvPr>
        </p:nvSpPr>
        <p:spPr/>
        <p:txBody>
          <a:bodyPr/>
          <a:lstStyle/>
          <a:p>
            <a:r>
              <a:rPr lang="en-US" dirty="0">
                <a:latin typeface="Open Sans"/>
                <a:ea typeface="Open Sans"/>
                <a:cs typeface="Open Sans"/>
              </a:rPr>
              <a:t>The models were evaluated using several classification metrics including accuracy, precision, recall, and confusion matrix analysis. Although Random Forest achieved higher accuracy, it failed to identify defaulters effectively. Logistic Regression performed better in detecting default cases, showing that accuracy alone is not always a reliable evaluation metric in imbalanced datasets.</a:t>
            </a:r>
          </a:p>
        </p:txBody>
      </p:sp>
    </p:spTree>
    <p:extLst>
      <p:ext uri="{BB962C8B-B14F-4D97-AF65-F5344CB8AC3E}">
        <p14:creationId xmlns:p14="http://schemas.microsoft.com/office/powerpoint/2010/main" val="1514138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C502B-1704-F935-60B7-47EB660CD0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50A8E-3B7B-4C62-D956-930E9F06C941}"/>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4D188CB6-E9E0-34FF-B89A-AB4B9E1CA2B9}"/>
              </a:ext>
            </a:extLst>
          </p:cNvPr>
          <p:cNvSpPr>
            <a:spLocks noGrp="1"/>
          </p:cNvSpPr>
          <p:nvPr>
            <p:ph type="body" idx="3"/>
          </p:nvPr>
        </p:nvSpPr>
        <p:spPr/>
        <p:txBody>
          <a:bodyPr/>
          <a:lstStyle/>
          <a:p>
            <a:r>
              <a:rPr lang="en-US" dirty="0">
                <a:latin typeface="Open Sans"/>
                <a:ea typeface="Open Sans"/>
                <a:cs typeface="Open Sans"/>
              </a:rPr>
              <a:t>One of the major findings from this project was that accuracy alone can be misleading in imbalanced datasets. Although Random Forest achieved high accuracy, it struggled to identify defaulters effectively. The project also showed that financial variables such as loan amount and credit score had strong influence on prediction outcomes.</a:t>
            </a:r>
          </a:p>
        </p:txBody>
      </p:sp>
    </p:spTree>
    <p:extLst>
      <p:ext uri="{BB962C8B-B14F-4D97-AF65-F5344CB8AC3E}">
        <p14:creationId xmlns:p14="http://schemas.microsoft.com/office/powerpoint/2010/main" val="7540346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2A97-A448-A96F-CFF5-C281D8AE5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4BDA7-4EEF-70BD-9E0F-11B8B220519C}"/>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D3A1A674-362D-FB5F-12FD-78B76749D195}"/>
              </a:ext>
            </a:extLst>
          </p:cNvPr>
          <p:cNvSpPr>
            <a:spLocks noGrp="1"/>
          </p:cNvSpPr>
          <p:nvPr>
            <p:ph type="body" idx="3"/>
          </p:nvPr>
        </p:nvSpPr>
        <p:spPr/>
        <p:txBody>
          <a:bodyPr/>
          <a:lstStyle/>
          <a:p>
            <a:r>
              <a:rPr lang="en-US" dirty="0">
                <a:latin typeface="Open Sans"/>
                <a:ea typeface="Open Sans"/>
                <a:cs typeface="Open Sans"/>
              </a:rPr>
              <a:t>One of the major challenges encountered was class imbalance, where non-defaulters were significantly more than defaulters. This affected the prediction behavior of some models, especially Random Forest. Additionally, preprocessing and understanding machine learning workflows required continuous adjustments throughout the project.</a:t>
            </a:r>
          </a:p>
        </p:txBody>
      </p:sp>
    </p:spTree>
    <p:extLst>
      <p:ext uri="{BB962C8B-B14F-4D97-AF65-F5344CB8AC3E}">
        <p14:creationId xmlns:p14="http://schemas.microsoft.com/office/powerpoint/2010/main" val="137914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F428A-CEFA-66B4-E015-97BD427BF0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D6F71-1F29-12E6-1823-AD73335CA3B0}"/>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8BDE51E3-2EB6-C93D-FFD2-E0F698FEE1F7}"/>
              </a:ext>
            </a:extLst>
          </p:cNvPr>
          <p:cNvSpPr>
            <a:spLocks noGrp="1"/>
          </p:cNvSpPr>
          <p:nvPr>
            <p:ph type="body" idx="3"/>
          </p:nvPr>
        </p:nvSpPr>
        <p:spPr/>
        <p:txBody>
          <a:bodyPr/>
          <a:lstStyle/>
          <a:p>
            <a:r>
              <a:rPr lang="en-US"/>
              <a:t>In conclusion, the project showed that machine learning can support financial risk assessment by predicting potential loan defaulters. The project also highlighted the importance of preprocessing, proper model evaluation, and handling class imbalance when working with predictive models.</a:t>
            </a:r>
          </a:p>
          <a:p>
            <a:endParaRPr lang="en-US" altLang="en-US" dirty="0">
              <a:cs typeface="Open Sans"/>
            </a:endParaRPr>
          </a:p>
        </p:txBody>
      </p:sp>
    </p:spTree>
    <p:extLst>
      <p:ext uri="{BB962C8B-B14F-4D97-AF65-F5344CB8AC3E}">
        <p14:creationId xmlns:p14="http://schemas.microsoft.com/office/powerpoint/2010/main" val="31777334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F7004-5324-B6C4-5AD3-35ED507CDF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412BC0-9CC4-9DF2-FC88-BAE0C333B3DA}"/>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7C2911F3-7BD6-2857-DF15-3F3B0277A155}"/>
              </a:ext>
            </a:extLst>
          </p:cNvPr>
          <p:cNvSpPr>
            <a:spLocks noGrp="1"/>
          </p:cNvSpPr>
          <p:nvPr>
            <p:ph type="body" idx="3"/>
          </p:nvPr>
        </p:nvSpPr>
        <p:spPr/>
        <p:txBody>
          <a:bodyPr/>
          <a:lstStyle/>
          <a:p>
            <a:r>
              <a:rPr lang="en-US"/>
              <a:t>In conclusion, the project showed that machine learning can support financial risk assessment by predicting potential loan defaulters. The project also highlighted the importance of preprocessing, proper model evaluation, and handling class imbalance when working with predictive models.</a:t>
            </a:r>
          </a:p>
          <a:p>
            <a:endParaRPr lang="en-US" altLang="en-US" dirty="0">
              <a:cs typeface="Open Sans"/>
            </a:endParaRPr>
          </a:p>
        </p:txBody>
      </p:sp>
    </p:spTree>
    <p:extLst>
      <p:ext uri="{BB962C8B-B14F-4D97-AF65-F5344CB8AC3E}">
        <p14:creationId xmlns:p14="http://schemas.microsoft.com/office/powerpoint/2010/main" val="3641154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矩形 1"/>
          <p:cNvSpPr/>
          <p:nvPr userDrawn="1"/>
        </p:nvSpPr>
        <p:spPr>
          <a:xfrm>
            <a:off x="0" y="0"/>
            <a:ext cx="9144000" cy="51435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Philosopher" panose="00000500000000000000"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6" name="矩形 5"/>
          <p:cNvSpPr/>
          <p:nvPr userDrawn="1"/>
        </p:nvSpPr>
        <p:spPr>
          <a:xfrm>
            <a:off x="0" y="0"/>
            <a:ext cx="9144000" cy="51435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Philosopher" panose="00000500000000000000" charset="0"/>
            </a:endParaRPr>
          </a:p>
        </p:txBody>
      </p:sp>
      <p:sp>
        <p:nvSpPr>
          <p:cNvPr id="3" name="图片占位符 4"/>
          <p:cNvSpPr>
            <a:spLocks noGrp="1"/>
          </p:cNvSpPr>
          <p:nvPr>
            <p:ph type="pic" sz="quarter" idx="11"/>
          </p:nvPr>
        </p:nvSpPr>
        <p:spPr>
          <a:xfrm>
            <a:off x="228600" y="1095067"/>
            <a:ext cx="8686800" cy="1789899"/>
          </a:xfrm>
          <a:prstGeom prst="roundRect">
            <a:avLst>
              <a:gd name="adj" fmla="val 0"/>
            </a:avLst>
          </a:prstGeom>
        </p:spPr>
        <p:txBody>
          <a:bodyPr/>
          <a:lstStyle/>
          <a:p>
            <a:r>
              <a:rPr lang="zh-CN" altLang="en-US"/>
              <a:t>单击图标添加图片</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0"/>
            <a:ext cx="9144000" cy="51435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Philosopher" panose="00000500000000000000" charset="0"/>
            </a:endParaRPr>
          </a:p>
        </p:txBody>
      </p:sp>
      <p:sp>
        <p:nvSpPr>
          <p:cNvPr id="2" name="矩形 1"/>
          <p:cNvSpPr/>
          <p:nvPr userDrawn="1"/>
        </p:nvSpPr>
        <p:spPr>
          <a:xfrm>
            <a:off x="0" y="1305017"/>
            <a:ext cx="9144000" cy="13760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Philosopher" panose="00000500000000000000" charset="0"/>
            </a:endParaRPr>
          </a:p>
        </p:txBody>
      </p:sp>
      <p:sp>
        <p:nvSpPr>
          <p:cNvPr id="3" name="图片占位符 4"/>
          <p:cNvSpPr>
            <a:spLocks noGrp="1"/>
          </p:cNvSpPr>
          <p:nvPr>
            <p:ph type="pic" sz="quarter" idx="11"/>
          </p:nvPr>
        </p:nvSpPr>
        <p:spPr>
          <a:xfrm>
            <a:off x="228600" y="1095067"/>
            <a:ext cx="2745419" cy="1789899"/>
          </a:xfrm>
          <a:prstGeom prst="roundRect">
            <a:avLst>
              <a:gd name="adj" fmla="val 4464"/>
            </a:avLst>
          </a:prstGeom>
        </p:spPr>
        <p:txBody>
          <a:bodyPr/>
          <a:lstStyle/>
          <a:p>
            <a:r>
              <a:rPr lang="zh-CN" altLang="en-US"/>
              <a:t>单击图标添加图片</a:t>
            </a:r>
          </a:p>
        </p:txBody>
      </p:sp>
      <p:sp>
        <p:nvSpPr>
          <p:cNvPr id="5" name="图片占位符 4"/>
          <p:cNvSpPr>
            <a:spLocks noGrp="1"/>
          </p:cNvSpPr>
          <p:nvPr>
            <p:ph type="pic" sz="quarter" idx="12"/>
          </p:nvPr>
        </p:nvSpPr>
        <p:spPr>
          <a:xfrm>
            <a:off x="3199290" y="1095067"/>
            <a:ext cx="2745419" cy="1789899"/>
          </a:xfrm>
          <a:prstGeom prst="roundRect">
            <a:avLst>
              <a:gd name="adj" fmla="val 4464"/>
            </a:avLst>
          </a:prstGeom>
        </p:spPr>
        <p:txBody>
          <a:bodyPr/>
          <a:lstStyle/>
          <a:p>
            <a:r>
              <a:rPr lang="zh-CN" altLang="en-US"/>
              <a:t>单击图标添加图片</a:t>
            </a:r>
          </a:p>
        </p:txBody>
      </p:sp>
      <p:sp>
        <p:nvSpPr>
          <p:cNvPr id="6" name="图片占位符 4"/>
          <p:cNvSpPr>
            <a:spLocks noGrp="1"/>
          </p:cNvSpPr>
          <p:nvPr>
            <p:ph type="pic" sz="quarter" idx="13"/>
          </p:nvPr>
        </p:nvSpPr>
        <p:spPr>
          <a:xfrm>
            <a:off x="6169981" y="1095067"/>
            <a:ext cx="2745419" cy="1789899"/>
          </a:xfrm>
          <a:prstGeom prst="roundRect">
            <a:avLst>
              <a:gd name="adj" fmla="val 4464"/>
            </a:avLst>
          </a:prstGeom>
        </p:spPr>
        <p:txBody>
          <a:bodyPr/>
          <a:lstStyle/>
          <a:p>
            <a:r>
              <a:rPr lang="zh-CN" altLang="en-US"/>
              <a:t>单击图标添加图片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6" name="矩形 5"/>
          <p:cNvSpPr/>
          <p:nvPr userDrawn="1"/>
        </p:nvSpPr>
        <p:spPr>
          <a:xfrm>
            <a:off x="0" y="0"/>
            <a:ext cx="9144000" cy="51435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Philosopher" panose="00000500000000000000"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矩形 6"/>
          <p:cNvSpPr/>
          <p:nvPr userDrawn="1"/>
        </p:nvSpPr>
        <p:spPr>
          <a:xfrm>
            <a:off x="0" y="0"/>
            <a:ext cx="9144000" cy="51435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Philosopher" panose="00000500000000000000" charset="0"/>
            </a:endParaRPr>
          </a:p>
        </p:txBody>
      </p:sp>
      <p:sp>
        <p:nvSpPr>
          <p:cNvPr id="3" name="图片占位符 4"/>
          <p:cNvSpPr>
            <a:spLocks noGrp="1"/>
          </p:cNvSpPr>
          <p:nvPr>
            <p:ph type="pic" sz="quarter" idx="11"/>
          </p:nvPr>
        </p:nvSpPr>
        <p:spPr>
          <a:xfrm>
            <a:off x="228600" y="1374461"/>
            <a:ext cx="3889744" cy="2884967"/>
          </a:xfrm>
          <a:prstGeom prst="roundRect">
            <a:avLst>
              <a:gd name="adj" fmla="val 0"/>
            </a:avLst>
          </a:prstGeom>
        </p:spPr>
        <p:txBody>
          <a:bodyPr/>
          <a:lstStyle/>
          <a:p>
            <a:r>
              <a:rPr lang="zh-CN" altLang="en-US"/>
              <a:t>单击图标添加图片</a:t>
            </a:r>
          </a:p>
        </p:txBody>
      </p:sp>
      <p:sp>
        <p:nvSpPr>
          <p:cNvPr id="2" name="矩形 1"/>
          <p:cNvSpPr/>
          <p:nvPr userDrawn="1"/>
        </p:nvSpPr>
        <p:spPr>
          <a:xfrm>
            <a:off x="3778103" y="1753689"/>
            <a:ext cx="666307" cy="21265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Philosopher" panose="00000500000000000000" charset="0"/>
            </a:endParaRPr>
          </a:p>
        </p:txBody>
      </p:sp>
      <p:sp>
        <p:nvSpPr>
          <p:cNvPr id="5" name="矩形 4"/>
          <p:cNvSpPr/>
          <p:nvPr userDrawn="1"/>
        </p:nvSpPr>
        <p:spPr>
          <a:xfrm>
            <a:off x="8915400" y="1375144"/>
            <a:ext cx="228600" cy="288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Philosopher" panose="00000500000000000000"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0"/>
            <a:ext cx="9144000" cy="51435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Philosopher" panose="00000500000000000000" charset="0"/>
            </a:endParaRPr>
          </a:p>
        </p:txBody>
      </p:sp>
      <p:sp>
        <p:nvSpPr>
          <p:cNvPr id="4" name="图片占位符 4"/>
          <p:cNvSpPr>
            <a:spLocks noGrp="1"/>
          </p:cNvSpPr>
          <p:nvPr>
            <p:ph type="pic" sz="quarter" idx="11"/>
          </p:nvPr>
        </p:nvSpPr>
        <p:spPr>
          <a:xfrm>
            <a:off x="299484" y="1137598"/>
            <a:ext cx="2642191" cy="1598514"/>
          </a:xfrm>
          <a:prstGeom prst="roundRect">
            <a:avLst>
              <a:gd name="adj" fmla="val 4027"/>
            </a:avLst>
          </a:prstGeom>
        </p:spPr>
        <p:txBody>
          <a:bodyPr/>
          <a:lstStyle/>
          <a:p>
            <a:r>
              <a:rPr lang="zh-CN" altLang="en-US"/>
              <a:t>单击图标添加图片</a:t>
            </a:r>
          </a:p>
        </p:txBody>
      </p:sp>
      <p:sp>
        <p:nvSpPr>
          <p:cNvPr id="5" name="图片占位符 4"/>
          <p:cNvSpPr>
            <a:spLocks noGrp="1"/>
          </p:cNvSpPr>
          <p:nvPr>
            <p:ph type="pic" sz="quarter" idx="12"/>
          </p:nvPr>
        </p:nvSpPr>
        <p:spPr>
          <a:xfrm>
            <a:off x="3237615" y="1137598"/>
            <a:ext cx="2642191" cy="1598514"/>
          </a:xfrm>
          <a:prstGeom prst="roundRect">
            <a:avLst>
              <a:gd name="adj" fmla="val 4027"/>
            </a:avLst>
          </a:prstGeom>
        </p:spPr>
        <p:txBody>
          <a:bodyPr/>
          <a:lstStyle/>
          <a:p>
            <a:r>
              <a:rPr lang="zh-CN" altLang="en-US"/>
              <a:t>单击图标添加图片</a:t>
            </a:r>
          </a:p>
        </p:txBody>
      </p:sp>
      <p:sp>
        <p:nvSpPr>
          <p:cNvPr id="6" name="图片占位符 4"/>
          <p:cNvSpPr>
            <a:spLocks noGrp="1"/>
          </p:cNvSpPr>
          <p:nvPr>
            <p:ph type="pic" sz="quarter" idx="13"/>
          </p:nvPr>
        </p:nvSpPr>
        <p:spPr>
          <a:xfrm>
            <a:off x="6175745" y="1137598"/>
            <a:ext cx="2642191" cy="1598514"/>
          </a:xfrm>
          <a:prstGeom prst="roundRect">
            <a:avLst>
              <a:gd name="adj" fmla="val 4027"/>
            </a:avLst>
          </a:prstGeom>
        </p:spPr>
        <p:txBody>
          <a:bodyPr/>
          <a:lstStyle/>
          <a:p>
            <a:r>
              <a:rPr lang="zh-CN" altLang="en-US"/>
              <a:t>单击图标添加图片</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955F040-ED43-464F-96F2-927121FE6FD0}" type="datetimeFigureOut">
              <a:rPr lang="zh-CN" altLang="en-US" smtClean="0"/>
              <a:t>2026/5/15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95CE31C-667C-455E-B312-3B73BAEC6163}"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B0B0B"/>
            </a:gs>
            <a:gs pos="100000">
              <a:srgbClr val="2B2B2B"/>
            </a:gs>
          </a:gsLst>
          <a:lin ang="81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latin typeface="Open Sans" panose="020B0606030504020204" charset="0"/>
                <a:ea typeface="Open Sans" panose="020B0606030504020204" charset="0"/>
                <a:cs typeface="Philosopher" panose="00000500000000000000" charset="0"/>
              </a:defRPr>
            </a:lvl1pPr>
          </a:lstStyle>
          <a:p>
            <a:fld id="{D955F040-ED43-464F-96F2-927121FE6FD0}" type="datetimeFigureOut">
              <a:rPr lang="zh-CN" altLang="en-US" smtClean="0"/>
              <a:t>2026/5/15</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latin typeface="Open Sans" panose="020B0606030504020204" charset="0"/>
                <a:ea typeface="Open Sans" panose="020B0606030504020204" charset="0"/>
                <a:cs typeface="Philosopher" panose="00000500000000000000" charset="0"/>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latin typeface="Open Sans" panose="020B0606030504020204" charset="0"/>
                <a:ea typeface="Open Sans" panose="020B0606030504020204" charset="0"/>
                <a:cs typeface="Philosopher" panose="00000500000000000000" charset="0"/>
              </a:defRPr>
            </a:lvl1pPr>
          </a:lstStyle>
          <a:p>
            <a:fld id="{C95CE31C-667C-455E-B312-3B73BAEC616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685800" rtl="0" eaLnBrk="1" latinLnBrk="0" hangingPunct="1">
        <a:lnSpc>
          <a:spcPct val="90000"/>
        </a:lnSpc>
        <a:spcBef>
          <a:spcPct val="0"/>
        </a:spcBef>
        <a:buNone/>
        <a:defRPr sz="3300" kern="1200">
          <a:solidFill>
            <a:schemeClr val="tx1"/>
          </a:solidFill>
          <a:latin typeface="Open Sans" panose="020B0606030504020204" charset="0"/>
          <a:ea typeface="Philosopher" panose="00000500000000000000" charset="0"/>
          <a:cs typeface="Philosopher" panose="00000500000000000000"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Open Sans" panose="020B0606030504020204" charset="0"/>
          <a:ea typeface="Open Sans" panose="020B0606030504020204" charset="0"/>
          <a:cs typeface="Philosopher" panose="00000500000000000000"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Open Sans" panose="020B0606030504020204" charset="0"/>
          <a:ea typeface="Open Sans" panose="020B0606030504020204" charset="0"/>
          <a:cs typeface="Philosopher" panose="00000500000000000000"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Open Sans" panose="020B0606030504020204" charset="0"/>
          <a:ea typeface="Open Sans" panose="020B0606030504020204" charset="0"/>
          <a:cs typeface="Philosopher" panose="00000500000000000000"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Open Sans" panose="020B0606030504020204" charset="0"/>
          <a:ea typeface="Open Sans" panose="020B0606030504020204" charset="0"/>
          <a:cs typeface="Philosopher" panose="00000500000000000000"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Open Sans" panose="020B0606030504020204" charset="0"/>
          <a:ea typeface="Open Sans" panose="020B0606030504020204" charset="0"/>
          <a:cs typeface="Philosopher" panose="00000500000000000000"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0" y="0"/>
            <a:ext cx="601980" cy="306705"/>
          </a:xfrm>
          <a:prstGeom prst="rect">
            <a:avLst/>
          </a:prstGeom>
          <a:noFill/>
        </p:spPr>
        <p:txBody>
          <a:bodyPr wrap="square" rtlCol="0">
            <a:spAutoFit/>
          </a:bodyPr>
          <a:lstStyle/>
          <a:p>
            <a:endParaRPr lang="en-US" sz="1400" b="1">
              <a:solidFill>
                <a:schemeClr val="accent5">
                  <a:lumMod val="40000"/>
                  <a:lumOff val="60000"/>
                </a:schemeClr>
              </a:solidFill>
              <a:latin typeface="+mj-lt"/>
              <a:cs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图片 80"/>
          <p:cNvPicPr>
            <a:picLocks noChangeAspect="1"/>
          </p:cNvPicPr>
          <p:nvPr/>
        </p:nvPicPr>
        <p:blipFill rotWithShape="1">
          <a:blip r:embed="rId3"/>
          <a:srcRect t="11284" b="11844"/>
          <a:stretch>
            <a:fillRect/>
          </a:stretch>
        </p:blipFill>
        <p:spPr>
          <a:xfrm flipH="1" flipV="1">
            <a:off x="3806952" y="0"/>
            <a:ext cx="5010912" cy="5143500"/>
          </a:xfrm>
          <a:prstGeom prst="rect">
            <a:avLst/>
          </a:prstGeom>
        </p:spPr>
      </p:pic>
      <p:sp>
        <p:nvSpPr>
          <p:cNvPr id="109" name="文本框 108"/>
          <p:cNvSpPr txBox="1"/>
          <p:nvPr/>
        </p:nvSpPr>
        <p:spPr>
          <a:xfrm>
            <a:off x="132504" y="95682"/>
            <a:ext cx="765162" cy="306705"/>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r>
              <a:rPr lang="en-US" altLang="zh-CN" sz="1400" spc="0">
                <a:solidFill>
                  <a:schemeClr val="tx1">
                    <a:lumMod val="65000"/>
                    <a:lumOff val="35000"/>
                  </a:schemeClr>
                </a:solidFill>
                <a:effectLst/>
                <a:cs typeface="Philosopher" panose="00000500000000000000" charset="0"/>
                <a:sym typeface="Open Sans" panose="020B0606030504020204" charset="0"/>
              </a:rPr>
              <a:t>VR</a:t>
            </a:r>
          </a:p>
        </p:txBody>
      </p:sp>
      <p:sp>
        <p:nvSpPr>
          <p:cNvPr id="41" name="文本框 40"/>
          <p:cNvSpPr txBox="1"/>
          <p:nvPr/>
        </p:nvSpPr>
        <p:spPr>
          <a:xfrm>
            <a:off x="642379" y="1608651"/>
            <a:ext cx="6198870" cy="2122805"/>
          </a:xfrm>
          <a:prstGeom prst="rect">
            <a:avLst/>
          </a:prstGeom>
          <a:noFill/>
        </p:spPr>
        <p:txBody>
          <a:bodyPr wrap="none" rtlCol="0">
            <a:spAutoFit/>
          </a:bodyPr>
          <a:lstStyle/>
          <a:p>
            <a:pPr algn="l"/>
            <a:r>
              <a:rPr lang="en-US" altLang="en-US" sz="4400" b="1">
                <a:solidFill>
                  <a:srgbClr val="FCC896"/>
                </a:solidFill>
                <a:latin typeface="Philosopher" panose="00000500000000000000" charset="0"/>
                <a:ea typeface="+mj-ea"/>
                <a:cs typeface="Philosopher" panose="00000500000000000000" charset="0"/>
              </a:rPr>
              <a:t>Loan Default Prediction </a:t>
            </a:r>
          </a:p>
          <a:p>
            <a:pPr algn="l"/>
            <a:r>
              <a:rPr lang="en-US" altLang="en-US" sz="4400" b="1">
                <a:solidFill>
                  <a:srgbClr val="FCC896"/>
                </a:solidFill>
                <a:latin typeface="Philosopher" panose="00000500000000000000" charset="0"/>
                <a:ea typeface="+mj-ea"/>
                <a:cs typeface="Philosopher" panose="00000500000000000000" charset="0"/>
              </a:rPr>
              <a:t>Using </a:t>
            </a:r>
          </a:p>
          <a:p>
            <a:pPr algn="l"/>
            <a:r>
              <a:rPr lang="en-US" altLang="en-US" sz="4400" b="1">
                <a:solidFill>
                  <a:srgbClr val="FCC896"/>
                </a:solidFill>
                <a:latin typeface="Philosopher" panose="00000500000000000000" charset="0"/>
                <a:ea typeface="+mj-ea"/>
                <a:cs typeface="Philosopher" panose="00000500000000000000" charset="0"/>
              </a:rPr>
              <a:t>Machine Learning</a:t>
            </a:r>
          </a:p>
        </p:txBody>
      </p:sp>
      <p:sp>
        <p:nvSpPr>
          <p:cNvPr id="54" name="矩形: 圆角 53"/>
          <p:cNvSpPr/>
          <p:nvPr/>
        </p:nvSpPr>
        <p:spPr>
          <a:xfrm>
            <a:off x="754380" y="4290060"/>
            <a:ext cx="1122680" cy="368935"/>
          </a:xfrm>
          <a:prstGeom prst="roundRect">
            <a:avLst>
              <a:gd name="adj" fmla="val 50000"/>
            </a:avLst>
          </a:prstGeom>
          <a:solidFill>
            <a:srgbClr val="FCC8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cs typeface="Philosopher" panose="00000500000000000000" charset="0"/>
            </a:endParaRPr>
          </a:p>
        </p:txBody>
      </p:sp>
      <p:sp>
        <p:nvSpPr>
          <p:cNvPr id="57" name="文本框 56"/>
          <p:cNvSpPr txBox="1"/>
          <p:nvPr/>
        </p:nvSpPr>
        <p:spPr>
          <a:xfrm>
            <a:off x="642394" y="4290609"/>
            <a:ext cx="1228667" cy="368300"/>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w="38100">
                  <a:noFill/>
                </a:ln>
                <a:solidFill>
                  <a:schemeClr val="tx1">
                    <a:lumMod val="85000"/>
                    <a:lumOff val="15000"/>
                  </a:schemeClr>
                </a:solidFill>
                <a:effectLst/>
                <a:uLnTx/>
                <a:uFillTx/>
                <a:latin typeface="Philosopher" panose="00000500000000000000" charset="0"/>
                <a:ea typeface="Philosopher" panose="00000500000000000000" charset="0"/>
                <a:cs typeface="Philosopher" panose="00000500000000000000" charset="0"/>
                <a:sym typeface="Open Sans" panose="020B0606030504020204" charset="0"/>
              </a:rPr>
              <a:t>Prepared by</a:t>
            </a:r>
            <a:r>
              <a:rPr kumimoji="0" lang="zh-CN" altLang="en-US" sz="900" b="0" i="0" u="none" strike="noStrike" kern="1200" cap="none" spc="0" normalizeH="0" baseline="0" noProof="0">
                <a:ln w="38100">
                  <a:noFill/>
                </a:ln>
                <a:solidFill>
                  <a:schemeClr val="tx1">
                    <a:lumMod val="85000"/>
                    <a:lumOff val="15000"/>
                  </a:schemeClr>
                </a:solidFill>
                <a:effectLst/>
                <a:uLnTx/>
                <a:uFillTx/>
                <a:latin typeface="Philosopher" panose="00000500000000000000" charset="0"/>
                <a:ea typeface="Philosopher" panose="00000500000000000000" charset="0"/>
                <a:cs typeface="Philosopher" panose="00000500000000000000" charset="0"/>
                <a:sym typeface="Open Sans" panose="020B0606030504020204" charset="0"/>
              </a:rPr>
              <a:t>: </a:t>
            </a:r>
            <a:r>
              <a:rPr kumimoji="0" lang="en-US" altLang="zh-CN" sz="900" b="0" i="0" u="none" strike="noStrike" kern="1200" cap="none" spc="0" normalizeH="0" baseline="0" noProof="0">
                <a:ln w="38100">
                  <a:noFill/>
                </a:ln>
                <a:solidFill>
                  <a:schemeClr val="tx1">
                    <a:lumMod val="85000"/>
                    <a:lumOff val="15000"/>
                  </a:schemeClr>
                </a:solidFill>
                <a:effectLst/>
                <a:uLnTx/>
                <a:uFillTx/>
                <a:latin typeface="Philosopher" panose="00000500000000000000" charset="0"/>
                <a:ea typeface="Philosopher" panose="00000500000000000000" charset="0"/>
                <a:cs typeface="Philosopher" panose="00000500000000000000" charset="0"/>
                <a:sym typeface="Open Sans" panose="020B0606030504020204" charset="0"/>
              </a:rPr>
              <a:t>ROSEMARY</a:t>
            </a:r>
          </a:p>
        </p:txBody>
      </p:sp>
      <p:sp>
        <p:nvSpPr>
          <p:cNvPr id="59" name="矩形 58"/>
          <p:cNvSpPr/>
          <p:nvPr/>
        </p:nvSpPr>
        <p:spPr>
          <a:xfrm>
            <a:off x="678815" y="1279525"/>
            <a:ext cx="5818505" cy="583565"/>
          </a:xfrm>
          <a:prstGeom prst="rect">
            <a:avLst/>
          </a:prstGeom>
          <a:noFill/>
          <a:ln>
            <a:noFill/>
          </a:ln>
        </p:spPr>
        <p:txBody>
          <a:bodyPr wrap="square" rtlCol="0">
            <a:spAutoFit/>
          </a:bodyPr>
          <a:lstStyle/>
          <a:p>
            <a:pPr defTabSz="457200"/>
            <a:r>
              <a:rPr lang="en-US" altLang="zh-CN" sz="3200" b="1">
                <a:ln w="3175">
                  <a:gradFill>
                    <a:gsLst>
                      <a:gs pos="0">
                        <a:srgbClr val="FAD0B5"/>
                      </a:gs>
                      <a:gs pos="70000">
                        <a:srgbClr val="F7E7E1">
                          <a:alpha val="0"/>
                        </a:srgbClr>
                      </a:gs>
                    </a:gsLst>
                    <a:lin ang="5400000" scaled="1"/>
                  </a:gradFill>
                </a:ln>
                <a:noFill/>
                <a:latin typeface="Open Sans" panose="020B0606030504020204" charset="0"/>
                <a:ea typeface="Open Sans" panose="020B0606030504020204" charset="0"/>
                <a:cs typeface="Philosopher" panose="00000500000000000000" charset="0"/>
                <a:sym typeface="Open Sans" panose="020B0606030504020204" charset="0"/>
              </a:rPr>
              <a:t>PROJECT PRESENTATION</a:t>
            </a:r>
          </a:p>
        </p:txBody>
      </p:sp>
      <p:sp>
        <p:nvSpPr>
          <p:cNvPr id="4" name="Text Box 3"/>
          <p:cNvSpPr txBox="1"/>
          <p:nvPr/>
        </p:nvSpPr>
        <p:spPr>
          <a:xfrm>
            <a:off x="754380" y="3584575"/>
            <a:ext cx="5163185" cy="368300"/>
          </a:xfrm>
          <a:prstGeom prst="rect">
            <a:avLst/>
          </a:prstGeom>
          <a:noFill/>
        </p:spPr>
        <p:txBody>
          <a:bodyPr wrap="square" rtlCol="0">
            <a:spAutoFit/>
          </a:bodyPr>
          <a:lstStyle/>
          <a:p>
            <a:r>
              <a:rPr lang="en-US">
                <a:solidFill>
                  <a:schemeClr val="bg1"/>
                </a:solidFill>
              </a:rPr>
              <a:t>Financial Industry Machine Learning Project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par>
                                <p:cTn id="10" presetID="1" presetClass="entr" presetSubtype="0" fill="hold" grpId="0" nodeType="withEffect">
                                  <p:stCondLst>
                                    <p:cond delay="0"/>
                                  </p:stCondLst>
                                  <p:childTnLst>
                                    <p:set>
                                      <p:cBhvr>
                                        <p:cTn id="11"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4" grpId="0"/>
      <p:bldP spid="4"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图片 97"/>
          <p:cNvPicPr>
            <a:picLocks noChangeAspect="1"/>
          </p:cNvPicPr>
          <p:nvPr/>
        </p:nvPicPr>
        <p:blipFill rotWithShape="1">
          <a:blip r:embed="rId3"/>
          <a:srcRect t="11284" b="11844"/>
          <a:stretch>
            <a:fillRect/>
          </a:stretch>
        </p:blipFill>
        <p:spPr>
          <a:xfrm>
            <a:off x="83442" y="34651"/>
            <a:ext cx="5010912" cy="5143500"/>
          </a:xfrm>
          <a:prstGeom prst="rect">
            <a:avLst/>
          </a:prstGeom>
        </p:spPr>
      </p:pic>
      <p:sp>
        <p:nvSpPr>
          <p:cNvPr id="99" name="矩形 98"/>
          <p:cNvSpPr/>
          <p:nvPr/>
        </p:nvSpPr>
        <p:spPr bwMode="auto">
          <a:xfrm>
            <a:off x="-168979" y="252437"/>
            <a:ext cx="3403600" cy="829945"/>
          </a:xfrm>
          <a:prstGeom prst="rect">
            <a:avLst/>
          </a:prstGeom>
          <a:noFill/>
          <a:ln>
            <a:noFill/>
          </a:ln>
        </p:spPr>
        <p:txBody>
          <a:bodyPr wrap="square" rtlCol="0">
            <a:spAutoFit/>
          </a:bodyPr>
          <a:lstStyle/>
          <a:p>
            <a:pPr algn="ctr" defTabSz="457200"/>
            <a:r>
              <a:rPr lang="zh-CN" altLang="en-US" sz="4800" b="1">
                <a:ln w="38100">
                  <a:noFill/>
                </a:ln>
                <a:gradFill>
                  <a:gsLst>
                    <a:gs pos="0">
                      <a:srgbClr val="FCC490"/>
                    </a:gs>
                    <a:gs pos="100000">
                      <a:srgbClr val="FCC896"/>
                    </a:gs>
                  </a:gsLst>
                  <a:lin ang="0" scaled="1"/>
                </a:gradFill>
                <a:latin typeface="+mj-ea"/>
                <a:ea typeface="+mj-ea"/>
                <a:cs typeface="Philosopher" panose="00000500000000000000" charset="0"/>
                <a:sym typeface="Open Sans" panose="020B0606030504020204" charset="0"/>
              </a:rPr>
              <a:t>CONTENTS</a:t>
            </a:r>
          </a:p>
        </p:txBody>
      </p:sp>
      <p:sp>
        <p:nvSpPr>
          <p:cNvPr id="57" name="文本框 56"/>
          <p:cNvSpPr txBox="1"/>
          <p:nvPr/>
        </p:nvSpPr>
        <p:spPr>
          <a:xfrm>
            <a:off x="-6510" y="3006"/>
            <a:ext cx="765162" cy="306705"/>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r>
              <a:rPr lang="en-US" altLang="zh-CN" sz="1400" spc="0">
                <a:solidFill>
                  <a:schemeClr val="tx1">
                    <a:lumMod val="65000"/>
                    <a:lumOff val="35000"/>
                  </a:schemeClr>
                </a:solidFill>
                <a:effectLst/>
                <a:cs typeface="Philosopher" panose="00000500000000000000" charset="0"/>
                <a:sym typeface="Open Sans" panose="020B0606030504020204" charset="0"/>
              </a:rPr>
              <a:t>VR</a:t>
            </a:r>
          </a:p>
        </p:txBody>
      </p:sp>
      <p:sp>
        <p:nvSpPr>
          <p:cNvPr id="7" name="TextBox 6">
            <a:extLst>
              <a:ext uri="{FF2B5EF4-FFF2-40B4-BE49-F238E27FC236}">
                <a16:creationId xmlns:a16="http://schemas.microsoft.com/office/drawing/2014/main" id="{822D9FF9-0421-1CAF-C684-3F28AC759681}"/>
              </a:ext>
            </a:extLst>
          </p:cNvPr>
          <p:cNvSpPr txBox="1"/>
          <p:nvPr/>
        </p:nvSpPr>
        <p:spPr>
          <a:xfrm>
            <a:off x="86918" y="1495027"/>
            <a:ext cx="25640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02. Project Objectives</a:t>
            </a:r>
            <a:endParaRPr lang="en-US" dirty="0">
              <a:solidFill>
                <a:srgbClr val="FCC490"/>
              </a:solidFill>
              <a:latin typeface="Philosopher"/>
            </a:endParaRPr>
          </a:p>
          <a:p>
            <a:pPr algn="ctr"/>
            <a:endParaRPr lang="en-US"/>
          </a:p>
        </p:txBody>
      </p:sp>
      <p:sp>
        <p:nvSpPr>
          <p:cNvPr id="9" name="TextBox 8">
            <a:extLst>
              <a:ext uri="{FF2B5EF4-FFF2-40B4-BE49-F238E27FC236}">
                <a16:creationId xmlns:a16="http://schemas.microsoft.com/office/drawing/2014/main" id="{D5B957E8-A2BB-DA13-470B-6637C555D2D9}"/>
              </a:ext>
            </a:extLst>
          </p:cNvPr>
          <p:cNvSpPr txBox="1"/>
          <p:nvPr/>
        </p:nvSpPr>
        <p:spPr>
          <a:xfrm>
            <a:off x="86918" y="192484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03. Dataset Description</a:t>
            </a:r>
            <a:endParaRPr lang="en-US" dirty="0">
              <a:solidFill>
                <a:srgbClr val="FCC490"/>
              </a:solidFill>
              <a:latin typeface="Philosopher"/>
            </a:endParaRPr>
          </a:p>
          <a:p>
            <a:pPr algn="ctr"/>
            <a:endParaRPr lang="en-US"/>
          </a:p>
        </p:txBody>
      </p:sp>
      <p:sp>
        <p:nvSpPr>
          <p:cNvPr id="10" name="TextBox 9">
            <a:extLst>
              <a:ext uri="{FF2B5EF4-FFF2-40B4-BE49-F238E27FC236}">
                <a16:creationId xmlns:a16="http://schemas.microsoft.com/office/drawing/2014/main" id="{1115D30B-9790-6C0A-F19A-FE8AEFCAEC08}"/>
              </a:ext>
            </a:extLst>
          </p:cNvPr>
          <p:cNvSpPr txBox="1"/>
          <p:nvPr/>
        </p:nvSpPr>
        <p:spPr>
          <a:xfrm>
            <a:off x="86918" y="238878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04. Data Processing</a:t>
            </a:r>
            <a:endParaRPr lang="en-US" dirty="0">
              <a:solidFill>
                <a:srgbClr val="FCC490"/>
              </a:solidFill>
              <a:latin typeface="Philosopher"/>
            </a:endParaRPr>
          </a:p>
          <a:p>
            <a:pPr algn="ctr"/>
            <a:endParaRPr lang="en-US"/>
          </a:p>
        </p:txBody>
      </p:sp>
      <p:sp>
        <p:nvSpPr>
          <p:cNvPr id="11" name="TextBox 10">
            <a:extLst>
              <a:ext uri="{FF2B5EF4-FFF2-40B4-BE49-F238E27FC236}">
                <a16:creationId xmlns:a16="http://schemas.microsoft.com/office/drawing/2014/main" id="{DAC68E60-1C31-241A-CE09-651FD4C551F4}"/>
              </a:ext>
            </a:extLst>
          </p:cNvPr>
          <p:cNvSpPr txBox="1"/>
          <p:nvPr/>
        </p:nvSpPr>
        <p:spPr>
          <a:xfrm>
            <a:off x="86918" y="2818885"/>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05. Machine Learning Model</a:t>
            </a:r>
            <a:endParaRPr lang="en-US" dirty="0">
              <a:solidFill>
                <a:srgbClr val="FCC490"/>
              </a:solidFill>
              <a:latin typeface="Philosopher"/>
            </a:endParaRPr>
          </a:p>
          <a:p>
            <a:pPr algn="ctr"/>
            <a:endParaRPr lang="en-US"/>
          </a:p>
        </p:txBody>
      </p:sp>
      <p:sp>
        <p:nvSpPr>
          <p:cNvPr id="12" name="TextBox 11">
            <a:extLst>
              <a:ext uri="{FF2B5EF4-FFF2-40B4-BE49-F238E27FC236}">
                <a16:creationId xmlns:a16="http://schemas.microsoft.com/office/drawing/2014/main" id="{F3A5E67D-AA77-4997-E0D2-05D2855553D7}"/>
              </a:ext>
            </a:extLst>
          </p:cNvPr>
          <p:cNvSpPr txBox="1"/>
          <p:nvPr/>
        </p:nvSpPr>
        <p:spPr>
          <a:xfrm>
            <a:off x="86918" y="3243649"/>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06. Model </a:t>
            </a:r>
            <a:r>
              <a:rPr lang="en-US" dirty="0" err="1">
                <a:solidFill>
                  <a:srgbClr val="FCC490"/>
                </a:solidFill>
                <a:latin typeface="Philosopher"/>
              </a:rPr>
              <a:t>Evaluat</a:t>
            </a:r>
            <a:r>
              <a:rPr lang="en-US" dirty="0">
                <a:solidFill>
                  <a:srgbClr val="FCC490"/>
                </a:solidFill>
                <a:latin typeface="Philosopher"/>
              </a:rPr>
              <a:t>ion</a:t>
            </a:r>
          </a:p>
          <a:p>
            <a:pPr algn="ctr"/>
            <a:endParaRPr lang="en-US"/>
          </a:p>
        </p:txBody>
      </p:sp>
      <p:sp>
        <p:nvSpPr>
          <p:cNvPr id="13" name="TextBox 12">
            <a:extLst>
              <a:ext uri="{FF2B5EF4-FFF2-40B4-BE49-F238E27FC236}">
                <a16:creationId xmlns:a16="http://schemas.microsoft.com/office/drawing/2014/main" id="{739036D0-5FDA-6EF1-C06E-DA03EF297743}"/>
              </a:ext>
            </a:extLst>
          </p:cNvPr>
          <p:cNvSpPr txBox="1"/>
          <p:nvPr/>
        </p:nvSpPr>
        <p:spPr>
          <a:xfrm>
            <a:off x="86918" y="3678803"/>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07. Key Findings</a:t>
            </a:r>
            <a:endParaRPr lang="en-US" dirty="0">
              <a:solidFill>
                <a:srgbClr val="FCC490"/>
              </a:solidFill>
              <a:latin typeface="Philosopher"/>
            </a:endParaRPr>
          </a:p>
          <a:p>
            <a:pPr algn="ctr"/>
            <a:endParaRPr lang="en-US"/>
          </a:p>
        </p:txBody>
      </p:sp>
      <p:sp>
        <p:nvSpPr>
          <p:cNvPr id="14" name="TextBox 13">
            <a:extLst>
              <a:ext uri="{FF2B5EF4-FFF2-40B4-BE49-F238E27FC236}">
                <a16:creationId xmlns:a16="http://schemas.microsoft.com/office/drawing/2014/main" id="{35895D08-F69F-0795-FC47-34A8962B1473}"/>
              </a:ext>
            </a:extLst>
          </p:cNvPr>
          <p:cNvSpPr txBox="1"/>
          <p:nvPr/>
        </p:nvSpPr>
        <p:spPr>
          <a:xfrm>
            <a:off x="86918" y="1083042"/>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01. Introduction &amp; Problem Statement</a:t>
            </a:r>
            <a:endParaRPr lang="en-US" dirty="0">
              <a:solidFill>
                <a:srgbClr val="FCC490"/>
              </a:solidFill>
              <a:latin typeface="Philosopher"/>
            </a:endParaRPr>
          </a:p>
          <a:p>
            <a:pPr algn="ctr"/>
            <a:endParaRPr lang="en-US"/>
          </a:p>
        </p:txBody>
      </p:sp>
      <p:sp>
        <p:nvSpPr>
          <p:cNvPr id="17" name="TextBox 16">
            <a:extLst>
              <a:ext uri="{FF2B5EF4-FFF2-40B4-BE49-F238E27FC236}">
                <a16:creationId xmlns:a16="http://schemas.microsoft.com/office/drawing/2014/main" id="{8AF54A70-328F-B4D5-FDB8-7431CEE51B33}"/>
              </a:ext>
            </a:extLst>
          </p:cNvPr>
          <p:cNvSpPr txBox="1"/>
          <p:nvPr/>
        </p:nvSpPr>
        <p:spPr>
          <a:xfrm>
            <a:off x="83127" y="3860222"/>
            <a:ext cx="4572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rgbClr val="FCC490"/>
              </a:solidFill>
              <a:latin typeface="Philosopher"/>
            </a:endParaRPr>
          </a:p>
          <a:p>
            <a:r>
              <a:rPr lang="en-US">
                <a:solidFill>
                  <a:srgbClr val="FCC490"/>
                </a:solidFill>
                <a:latin typeface="Philosopher"/>
              </a:rPr>
              <a:t>08. Challenges</a:t>
            </a:r>
            <a:r>
              <a:rPr lang="en-US" dirty="0">
                <a:solidFill>
                  <a:srgbClr val="FCC490"/>
                </a:solidFill>
                <a:latin typeface="Philosopher"/>
              </a:rPr>
              <a:t> Encountered</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a:cs typeface="Open Sans"/>
            </a:endParaRPr>
          </a:p>
          <a:p>
            <a:pPr algn="ctr"/>
            <a:endParaRPr lang="en-US"/>
          </a:p>
        </p:txBody>
      </p:sp>
      <p:sp>
        <p:nvSpPr>
          <p:cNvPr id="18" name="TextBox 17">
            <a:extLst>
              <a:ext uri="{FF2B5EF4-FFF2-40B4-BE49-F238E27FC236}">
                <a16:creationId xmlns:a16="http://schemas.microsoft.com/office/drawing/2014/main" id="{FDF9920E-65F0-AA0F-EB70-E029B4398D0E}"/>
              </a:ext>
            </a:extLst>
          </p:cNvPr>
          <p:cNvSpPr txBox="1"/>
          <p:nvPr/>
        </p:nvSpPr>
        <p:spPr>
          <a:xfrm>
            <a:off x="83126" y="4494068"/>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09. Conclusion &amp; Recommendati</a:t>
            </a:r>
            <a:r>
              <a:rPr lang="en-US" dirty="0">
                <a:solidFill>
                  <a:srgbClr val="FCC490"/>
                </a:solidFill>
                <a:latin typeface="Philosopher"/>
              </a:rPr>
              <a:t>ons</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dirty="0"/>
          </a:p>
          <a:p>
            <a:pPr algn="ct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746BF-759A-6D07-7B66-1D6464B17BBE}"/>
            </a:ext>
          </a:extLst>
        </p:cNvPr>
        <p:cNvGrpSpPr/>
        <p:nvPr/>
      </p:nvGrpSpPr>
      <p:grpSpPr>
        <a:xfrm>
          <a:off x="0" y="0"/>
          <a:ext cx="0" cy="0"/>
          <a:chOff x="0" y="0"/>
          <a:chExt cx="0" cy="0"/>
        </a:xfrm>
      </p:grpSpPr>
      <p:pic>
        <p:nvPicPr>
          <p:cNvPr id="98" name="图片 97">
            <a:extLst>
              <a:ext uri="{FF2B5EF4-FFF2-40B4-BE49-F238E27FC236}">
                <a16:creationId xmlns:a16="http://schemas.microsoft.com/office/drawing/2014/main" id="{5E89E210-F4DD-F6BF-4BE1-6EB4739FFA63}"/>
              </a:ext>
            </a:extLst>
          </p:cNvPr>
          <p:cNvPicPr>
            <a:picLocks noChangeAspect="1"/>
          </p:cNvPicPr>
          <p:nvPr/>
        </p:nvPicPr>
        <p:blipFill rotWithShape="1">
          <a:blip r:embed="rId3"/>
          <a:srcRect t="11284" b="11844"/>
          <a:stretch>
            <a:fillRect/>
          </a:stretch>
        </p:blipFill>
        <p:spPr>
          <a:xfrm>
            <a:off x="83442" y="34651"/>
            <a:ext cx="5010912" cy="5143500"/>
          </a:xfrm>
          <a:prstGeom prst="rect">
            <a:avLst/>
          </a:prstGeom>
        </p:spPr>
      </p:pic>
      <p:sp>
        <p:nvSpPr>
          <p:cNvPr id="99" name="矩形 98">
            <a:extLst>
              <a:ext uri="{FF2B5EF4-FFF2-40B4-BE49-F238E27FC236}">
                <a16:creationId xmlns:a16="http://schemas.microsoft.com/office/drawing/2014/main" id="{A941DA24-7426-2158-30D8-06FEA460DC83}"/>
              </a:ext>
            </a:extLst>
          </p:cNvPr>
          <p:cNvSpPr/>
          <p:nvPr/>
        </p:nvSpPr>
        <p:spPr bwMode="auto">
          <a:xfrm>
            <a:off x="-168979" y="252437"/>
            <a:ext cx="3403600" cy="829945"/>
          </a:xfrm>
          <a:prstGeom prst="rect">
            <a:avLst/>
          </a:prstGeom>
          <a:noFill/>
          <a:ln>
            <a:noFill/>
          </a:ln>
        </p:spPr>
        <p:txBody>
          <a:bodyPr wrap="square" rtlCol="0">
            <a:spAutoFit/>
          </a:bodyPr>
          <a:lstStyle/>
          <a:p>
            <a:pPr algn="ctr" defTabSz="457200"/>
            <a:r>
              <a:rPr lang="zh-CN" altLang="en-US" sz="4800" b="1">
                <a:ln w="38100">
                  <a:noFill/>
                </a:ln>
                <a:gradFill>
                  <a:gsLst>
                    <a:gs pos="0">
                      <a:srgbClr val="FCC490"/>
                    </a:gs>
                    <a:gs pos="100000">
                      <a:srgbClr val="FCC896"/>
                    </a:gs>
                  </a:gsLst>
                  <a:lin ang="0" scaled="1"/>
                </a:gradFill>
                <a:latin typeface="+mj-ea"/>
                <a:ea typeface="+mj-ea"/>
                <a:cs typeface="Philosopher" panose="00000500000000000000" charset="0"/>
                <a:sym typeface="Open Sans" panose="020B0606030504020204" charset="0"/>
              </a:rPr>
              <a:t>CONTENTS</a:t>
            </a:r>
          </a:p>
        </p:txBody>
      </p:sp>
      <p:sp>
        <p:nvSpPr>
          <p:cNvPr id="57" name="文本框 56">
            <a:extLst>
              <a:ext uri="{FF2B5EF4-FFF2-40B4-BE49-F238E27FC236}">
                <a16:creationId xmlns:a16="http://schemas.microsoft.com/office/drawing/2014/main" id="{10AEDB19-4E0E-F575-9170-7DD8A7D0D788}"/>
              </a:ext>
            </a:extLst>
          </p:cNvPr>
          <p:cNvSpPr txBox="1"/>
          <p:nvPr/>
        </p:nvSpPr>
        <p:spPr>
          <a:xfrm>
            <a:off x="-6510" y="3006"/>
            <a:ext cx="765162" cy="306705"/>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r>
              <a:rPr lang="en-US" altLang="zh-CN" sz="1400" spc="0">
                <a:solidFill>
                  <a:schemeClr val="tx1">
                    <a:lumMod val="65000"/>
                    <a:lumOff val="35000"/>
                  </a:schemeClr>
                </a:solidFill>
                <a:effectLst/>
                <a:cs typeface="Philosopher" panose="00000500000000000000" charset="0"/>
                <a:sym typeface="Open Sans" panose="020B0606030504020204" charset="0"/>
              </a:rPr>
              <a:t>VR</a:t>
            </a:r>
          </a:p>
        </p:txBody>
      </p:sp>
      <p:sp>
        <p:nvSpPr>
          <p:cNvPr id="7" name="TextBox 6">
            <a:extLst>
              <a:ext uri="{FF2B5EF4-FFF2-40B4-BE49-F238E27FC236}">
                <a16:creationId xmlns:a16="http://schemas.microsoft.com/office/drawing/2014/main" id="{DED9D199-CE49-80F3-4068-235CE1DDB777}"/>
              </a:ext>
            </a:extLst>
          </p:cNvPr>
          <p:cNvSpPr txBox="1"/>
          <p:nvPr/>
        </p:nvSpPr>
        <p:spPr>
          <a:xfrm>
            <a:off x="86918" y="1495027"/>
            <a:ext cx="25640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02. Project Objectives</a:t>
            </a:r>
            <a:endParaRPr lang="en-US" dirty="0">
              <a:solidFill>
                <a:srgbClr val="FCC490"/>
              </a:solidFill>
              <a:latin typeface="Philosopher"/>
            </a:endParaRPr>
          </a:p>
          <a:p>
            <a:pPr algn="ctr"/>
            <a:endParaRPr lang="en-US"/>
          </a:p>
        </p:txBody>
      </p:sp>
      <p:sp>
        <p:nvSpPr>
          <p:cNvPr id="9" name="TextBox 8">
            <a:extLst>
              <a:ext uri="{FF2B5EF4-FFF2-40B4-BE49-F238E27FC236}">
                <a16:creationId xmlns:a16="http://schemas.microsoft.com/office/drawing/2014/main" id="{6E149044-69DC-3381-4C9F-A150660E31E1}"/>
              </a:ext>
            </a:extLst>
          </p:cNvPr>
          <p:cNvSpPr txBox="1"/>
          <p:nvPr/>
        </p:nvSpPr>
        <p:spPr>
          <a:xfrm>
            <a:off x="86918" y="192484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03. Dataset Description</a:t>
            </a:r>
            <a:endParaRPr lang="en-US" dirty="0">
              <a:solidFill>
                <a:srgbClr val="FCC490"/>
              </a:solidFill>
              <a:latin typeface="Philosopher"/>
            </a:endParaRPr>
          </a:p>
          <a:p>
            <a:pPr algn="ctr"/>
            <a:endParaRPr lang="en-US"/>
          </a:p>
        </p:txBody>
      </p:sp>
      <p:sp>
        <p:nvSpPr>
          <p:cNvPr id="10" name="TextBox 9">
            <a:extLst>
              <a:ext uri="{FF2B5EF4-FFF2-40B4-BE49-F238E27FC236}">
                <a16:creationId xmlns:a16="http://schemas.microsoft.com/office/drawing/2014/main" id="{F55FBC21-CCEA-E03D-5EB5-BFFDDD32695B}"/>
              </a:ext>
            </a:extLst>
          </p:cNvPr>
          <p:cNvSpPr txBox="1"/>
          <p:nvPr/>
        </p:nvSpPr>
        <p:spPr>
          <a:xfrm>
            <a:off x="86918" y="238878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04. Data Processing</a:t>
            </a:r>
            <a:endParaRPr lang="en-US" dirty="0">
              <a:solidFill>
                <a:srgbClr val="FCC490"/>
              </a:solidFill>
              <a:latin typeface="Philosopher"/>
            </a:endParaRPr>
          </a:p>
          <a:p>
            <a:pPr algn="ctr"/>
            <a:endParaRPr lang="en-US"/>
          </a:p>
        </p:txBody>
      </p:sp>
      <p:sp>
        <p:nvSpPr>
          <p:cNvPr id="11" name="TextBox 10">
            <a:extLst>
              <a:ext uri="{FF2B5EF4-FFF2-40B4-BE49-F238E27FC236}">
                <a16:creationId xmlns:a16="http://schemas.microsoft.com/office/drawing/2014/main" id="{5737E896-460C-823B-E845-9735EFB57266}"/>
              </a:ext>
            </a:extLst>
          </p:cNvPr>
          <p:cNvSpPr txBox="1"/>
          <p:nvPr/>
        </p:nvSpPr>
        <p:spPr>
          <a:xfrm>
            <a:off x="86918" y="2818885"/>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05. Machine Learning Model</a:t>
            </a:r>
            <a:endParaRPr lang="en-US" dirty="0">
              <a:solidFill>
                <a:srgbClr val="FCC490"/>
              </a:solidFill>
              <a:latin typeface="Philosopher"/>
            </a:endParaRPr>
          </a:p>
          <a:p>
            <a:pPr algn="ctr"/>
            <a:endParaRPr lang="en-US"/>
          </a:p>
        </p:txBody>
      </p:sp>
      <p:sp>
        <p:nvSpPr>
          <p:cNvPr id="12" name="TextBox 11">
            <a:extLst>
              <a:ext uri="{FF2B5EF4-FFF2-40B4-BE49-F238E27FC236}">
                <a16:creationId xmlns:a16="http://schemas.microsoft.com/office/drawing/2014/main" id="{9FEF2233-36A4-F013-F6BF-32252014080F}"/>
              </a:ext>
            </a:extLst>
          </p:cNvPr>
          <p:cNvSpPr txBox="1"/>
          <p:nvPr/>
        </p:nvSpPr>
        <p:spPr>
          <a:xfrm>
            <a:off x="86918" y="3243649"/>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06. Model </a:t>
            </a:r>
            <a:r>
              <a:rPr lang="en-US" dirty="0" err="1">
                <a:solidFill>
                  <a:srgbClr val="FCC490"/>
                </a:solidFill>
                <a:latin typeface="Philosopher"/>
              </a:rPr>
              <a:t>Evaluat</a:t>
            </a:r>
            <a:r>
              <a:rPr lang="en-US" dirty="0">
                <a:solidFill>
                  <a:srgbClr val="FCC490"/>
                </a:solidFill>
                <a:latin typeface="Philosopher"/>
              </a:rPr>
              <a:t>ion</a:t>
            </a:r>
          </a:p>
          <a:p>
            <a:pPr algn="ctr"/>
            <a:endParaRPr lang="en-US"/>
          </a:p>
        </p:txBody>
      </p:sp>
      <p:sp>
        <p:nvSpPr>
          <p:cNvPr id="13" name="TextBox 12">
            <a:extLst>
              <a:ext uri="{FF2B5EF4-FFF2-40B4-BE49-F238E27FC236}">
                <a16:creationId xmlns:a16="http://schemas.microsoft.com/office/drawing/2014/main" id="{6158C9EF-0CCD-5F96-B296-DFB9A6102E5C}"/>
              </a:ext>
            </a:extLst>
          </p:cNvPr>
          <p:cNvSpPr txBox="1"/>
          <p:nvPr/>
        </p:nvSpPr>
        <p:spPr>
          <a:xfrm>
            <a:off x="86918" y="3678803"/>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07. Key Findings</a:t>
            </a:r>
            <a:endParaRPr lang="en-US" dirty="0">
              <a:solidFill>
                <a:srgbClr val="FCC490"/>
              </a:solidFill>
              <a:latin typeface="Philosopher"/>
            </a:endParaRPr>
          </a:p>
          <a:p>
            <a:pPr algn="ctr"/>
            <a:endParaRPr lang="en-US"/>
          </a:p>
        </p:txBody>
      </p:sp>
      <p:sp>
        <p:nvSpPr>
          <p:cNvPr id="14" name="TextBox 13">
            <a:extLst>
              <a:ext uri="{FF2B5EF4-FFF2-40B4-BE49-F238E27FC236}">
                <a16:creationId xmlns:a16="http://schemas.microsoft.com/office/drawing/2014/main" id="{1DC466C5-CA6E-3BF3-3019-4304F6825E84}"/>
              </a:ext>
            </a:extLst>
          </p:cNvPr>
          <p:cNvSpPr txBox="1"/>
          <p:nvPr/>
        </p:nvSpPr>
        <p:spPr>
          <a:xfrm>
            <a:off x="86918" y="1083042"/>
            <a:ext cx="806334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FCC490"/>
                </a:solidFill>
                <a:latin typeface="Philosopher"/>
              </a:rPr>
              <a:t>01. Introduction &amp; Problem Statement</a:t>
            </a:r>
          </a:p>
          <a:p>
            <a:pPr algn="ctr"/>
            <a:endParaRPr lang="en-US" dirty="0">
              <a:solidFill>
                <a:srgbClr val="000000"/>
              </a:solidFill>
              <a:cs typeface="Open Sans"/>
            </a:endParaRPr>
          </a:p>
        </p:txBody>
      </p:sp>
      <p:sp>
        <p:nvSpPr>
          <p:cNvPr id="17" name="TextBox 16">
            <a:extLst>
              <a:ext uri="{FF2B5EF4-FFF2-40B4-BE49-F238E27FC236}">
                <a16:creationId xmlns:a16="http://schemas.microsoft.com/office/drawing/2014/main" id="{A68CD9BC-4EF8-7D0D-9246-18CD0A96AFF8}"/>
              </a:ext>
            </a:extLst>
          </p:cNvPr>
          <p:cNvSpPr txBox="1"/>
          <p:nvPr/>
        </p:nvSpPr>
        <p:spPr>
          <a:xfrm>
            <a:off x="83127" y="3860222"/>
            <a:ext cx="4572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rgbClr val="FCC490"/>
              </a:solidFill>
              <a:latin typeface="Philosopher"/>
            </a:endParaRPr>
          </a:p>
          <a:p>
            <a:r>
              <a:rPr lang="en-US">
                <a:solidFill>
                  <a:srgbClr val="FCC490"/>
                </a:solidFill>
                <a:latin typeface="Philosopher"/>
              </a:rPr>
              <a:t>08. Challenges</a:t>
            </a:r>
            <a:r>
              <a:rPr lang="en-US" dirty="0">
                <a:solidFill>
                  <a:srgbClr val="FCC490"/>
                </a:solidFill>
                <a:latin typeface="Philosopher"/>
              </a:rPr>
              <a:t> Encountered</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a:cs typeface="Open Sans"/>
            </a:endParaRPr>
          </a:p>
          <a:p>
            <a:pPr algn="ctr"/>
            <a:endParaRPr lang="en-US"/>
          </a:p>
        </p:txBody>
      </p:sp>
      <p:sp>
        <p:nvSpPr>
          <p:cNvPr id="18" name="TextBox 17">
            <a:extLst>
              <a:ext uri="{FF2B5EF4-FFF2-40B4-BE49-F238E27FC236}">
                <a16:creationId xmlns:a16="http://schemas.microsoft.com/office/drawing/2014/main" id="{F7D00DB7-3113-B77F-1F1F-1CE46D03E5EF}"/>
              </a:ext>
            </a:extLst>
          </p:cNvPr>
          <p:cNvSpPr txBox="1"/>
          <p:nvPr/>
        </p:nvSpPr>
        <p:spPr>
          <a:xfrm>
            <a:off x="83126" y="4494068"/>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09. Conclusion &amp; Recommendati</a:t>
            </a:r>
            <a:r>
              <a:rPr lang="en-US" dirty="0">
                <a:solidFill>
                  <a:srgbClr val="FCC490"/>
                </a:solidFill>
                <a:latin typeface="Philosopher"/>
              </a:rPr>
              <a:t>ons</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dirty="0"/>
          </a:p>
          <a:p>
            <a:pPr algn="ctr"/>
            <a:endParaRPr lang="en-US"/>
          </a:p>
        </p:txBody>
      </p:sp>
      <p:sp>
        <p:nvSpPr>
          <p:cNvPr id="3" name="TextBox 2">
            <a:extLst>
              <a:ext uri="{FF2B5EF4-FFF2-40B4-BE49-F238E27FC236}">
                <a16:creationId xmlns:a16="http://schemas.microsoft.com/office/drawing/2014/main" id="{2DB42BB4-7AD7-DA66-DF31-3F4965D744B4}"/>
              </a:ext>
            </a:extLst>
          </p:cNvPr>
          <p:cNvSpPr txBox="1"/>
          <p:nvPr/>
        </p:nvSpPr>
        <p:spPr>
          <a:xfrm>
            <a:off x="4128137" y="1490877"/>
            <a:ext cx="485875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chemeClr val="bg2">
                    <a:lumMod val="76000"/>
                  </a:schemeClr>
                </a:solidFill>
                <a:cs typeface="Open Sans"/>
              </a:rPr>
              <a:t>The</a:t>
            </a:r>
            <a:r>
              <a:rPr lang="en-US" sz="1600" dirty="0">
                <a:solidFill>
                  <a:schemeClr val="bg2">
                    <a:lumMod val="76000"/>
                  </a:schemeClr>
                </a:solidFill>
                <a:ea typeface="+mn-lt"/>
                <a:cs typeface="+mn-lt"/>
              </a:rPr>
              <a:t> </a:t>
            </a:r>
            <a:r>
              <a:rPr lang="en-US" sz="1600" b="1" dirty="0">
                <a:solidFill>
                  <a:schemeClr val="bg2">
                    <a:lumMod val="76000"/>
                  </a:schemeClr>
                </a:solidFill>
                <a:ea typeface="+mn-lt"/>
                <a:cs typeface="+mn-lt"/>
              </a:rPr>
              <a:t>financial industry</a:t>
            </a:r>
            <a:r>
              <a:rPr lang="en-US" sz="1600" dirty="0">
                <a:solidFill>
                  <a:schemeClr val="bg2">
                    <a:lumMod val="76000"/>
                  </a:schemeClr>
                </a:solidFill>
                <a:ea typeface="+mn-lt"/>
                <a:cs typeface="+mn-lt"/>
              </a:rPr>
              <a:t> depends heavily on accurate risk assessment before issuing loans and credit facilities. Loan defaults can result in significant financial losses for lenders, making borrower risk prediction an important aspect of financial decision-making.</a:t>
            </a:r>
            <a:endParaRPr lang="en-US" sz="1600" dirty="0">
              <a:solidFill>
                <a:schemeClr val="bg2">
                  <a:lumMod val="76000"/>
                </a:schemeClr>
              </a:solidFill>
              <a:cs typeface="Open Sans"/>
            </a:endParaRPr>
          </a:p>
        </p:txBody>
      </p:sp>
      <p:sp>
        <p:nvSpPr>
          <p:cNvPr id="4" name="TextBox 3">
            <a:extLst>
              <a:ext uri="{FF2B5EF4-FFF2-40B4-BE49-F238E27FC236}">
                <a16:creationId xmlns:a16="http://schemas.microsoft.com/office/drawing/2014/main" id="{ED8D99FA-9EBD-B38B-75C9-17AB437C9010}"/>
              </a:ext>
            </a:extLst>
          </p:cNvPr>
          <p:cNvSpPr txBox="1"/>
          <p:nvPr/>
        </p:nvSpPr>
        <p:spPr>
          <a:xfrm>
            <a:off x="4134502" y="3063027"/>
            <a:ext cx="500914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chemeClr val="bg2">
                    <a:lumMod val="76000"/>
                  </a:schemeClr>
                </a:solidFill>
                <a:cs typeface="Open Sans"/>
              </a:rPr>
              <a:t>Traditional</a:t>
            </a:r>
            <a:r>
              <a:rPr lang="en-US" sz="1600" dirty="0">
                <a:solidFill>
                  <a:schemeClr val="bg2">
                    <a:lumMod val="76000"/>
                  </a:schemeClr>
                </a:solidFill>
                <a:ea typeface="+mn-lt"/>
                <a:cs typeface="+mn-lt"/>
              </a:rPr>
              <a:t> methods of assessing borrower creditworthiness may not always identify high-risk borrowers effectively. This project explores the use of </a:t>
            </a:r>
            <a:r>
              <a:rPr lang="en-US" sz="1600" b="1" dirty="0">
                <a:solidFill>
                  <a:schemeClr val="bg2">
                    <a:lumMod val="76000"/>
                  </a:schemeClr>
                </a:solidFill>
                <a:ea typeface="+mn-lt"/>
                <a:cs typeface="+mn-lt"/>
              </a:rPr>
              <a:t>machine learning</a:t>
            </a:r>
            <a:r>
              <a:rPr lang="en-US" sz="1600" dirty="0">
                <a:solidFill>
                  <a:schemeClr val="bg2">
                    <a:lumMod val="76000"/>
                  </a:schemeClr>
                </a:solidFill>
                <a:ea typeface="+mn-lt"/>
                <a:cs typeface="+mn-lt"/>
              </a:rPr>
              <a:t> techniques to predict whether a borrower is likely to default on a loan using historical financial and demographic data.</a:t>
            </a:r>
            <a:endParaRPr lang="en-US" sz="1600">
              <a:solidFill>
                <a:schemeClr val="bg2">
                  <a:lumMod val="76000"/>
                </a:schemeClr>
              </a:solidFill>
              <a:cs typeface="Open Sans"/>
            </a:endParaRPr>
          </a:p>
        </p:txBody>
      </p:sp>
    </p:spTree>
    <p:extLst>
      <p:ext uri="{BB962C8B-B14F-4D97-AF65-F5344CB8AC3E}">
        <p14:creationId xmlns:p14="http://schemas.microsoft.com/office/powerpoint/2010/main" val="658291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p:tgtEl>
                                          <p:spTgt spid="3"/>
                                        </p:tgtEl>
                                        <p:attrNameLst>
                                          <p:attrName>ppt_y</p:attrName>
                                        </p:attrNameLst>
                                      </p:cBhvr>
                                      <p:tavLst>
                                        <p:tav tm="0">
                                          <p:val>
                                            <p:strVal val="#ppt_y+#ppt_h*1.125000"/>
                                          </p:val>
                                        </p:tav>
                                        <p:tav tm="100000">
                                          <p:val>
                                            <p:strVal val="#ppt_y"/>
                                          </p:val>
                                        </p:tav>
                                      </p:tavLst>
                                    </p:anim>
                                    <p:animEffect transition="in" filter="wipe(up)">
                                      <p:cBhvr>
                                        <p:cTn id="11" dur="500"/>
                                        <p:tgtEl>
                                          <p:spTgt spid="3"/>
                                        </p:tgtEl>
                                      </p:cBhvr>
                                    </p:animEffect>
                                  </p:childTnLst>
                                </p:cTn>
                              </p:par>
                              <p:par>
                                <p:cTn id="12" presetID="37"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900" decel="100000" fill="hold"/>
                                        <p:tgtEl>
                                          <p:spTgt spid="4"/>
                                        </p:tgtEl>
                                        <p:attrNameLst>
                                          <p:attrName>ppt_y</p:attrName>
                                        </p:attrNameLst>
                                      </p:cBhvr>
                                      <p:tavLst>
                                        <p:tav tm="0">
                                          <p:val>
                                            <p:strVal val="#ppt_y+1"/>
                                          </p:val>
                                        </p:tav>
                                        <p:tav tm="100000">
                                          <p:val>
                                            <p:strVal val="#ppt_y-.03"/>
                                          </p:val>
                                        </p:tav>
                                      </p:tavLst>
                                    </p:anim>
                                    <p:anim calcmode="lin" valueType="num">
                                      <p:cBhvr>
                                        <p:cTn id="17"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B522A-51B8-84FC-875A-1DA08AF34072}"/>
            </a:ext>
          </a:extLst>
        </p:cNvPr>
        <p:cNvGrpSpPr/>
        <p:nvPr/>
      </p:nvGrpSpPr>
      <p:grpSpPr>
        <a:xfrm>
          <a:off x="0" y="0"/>
          <a:ext cx="0" cy="0"/>
          <a:chOff x="0" y="0"/>
          <a:chExt cx="0" cy="0"/>
        </a:xfrm>
      </p:grpSpPr>
      <p:pic>
        <p:nvPicPr>
          <p:cNvPr id="98" name="图片 97">
            <a:extLst>
              <a:ext uri="{FF2B5EF4-FFF2-40B4-BE49-F238E27FC236}">
                <a16:creationId xmlns:a16="http://schemas.microsoft.com/office/drawing/2014/main" id="{CC2EBFD1-EEE4-822B-9528-6638FD3A4C35}"/>
              </a:ext>
            </a:extLst>
          </p:cNvPr>
          <p:cNvPicPr>
            <a:picLocks noChangeAspect="1"/>
          </p:cNvPicPr>
          <p:nvPr/>
        </p:nvPicPr>
        <p:blipFill rotWithShape="1">
          <a:blip r:embed="rId3"/>
          <a:srcRect t="11284" b="11844"/>
          <a:stretch>
            <a:fillRect/>
          </a:stretch>
        </p:blipFill>
        <p:spPr>
          <a:xfrm>
            <a:off x="83442" y="34651"/>
            <a:ext cx="5010912" cy="5143500"/>
          </a:xfrm>
          <a:prstGeom prst="rect">
            <a:avLst/>
          </a:prstGeom>
        </p:spPr>
      </p:pic>
      <p:sp>
        <p:nvSpPr>
          <p:cNvPr id="99" name="矩形 98">
            <a:extLst>
              <a:ext uri="{FF2B5EF4-FFF2-40B4-BE49-F238E27FC236}">
                <a16:creationId xmlns:a16="http://schemas.microsoft.com/office/drawing/2014/main" id="{AFDB964E-54DB-B75B-7757-32758140AAB2}"/>
              </a:ext>
            </a:extLst>
          </p:cNvPr>
          <p:cNvSpPr/>
          <p:nvPr/>
        </p:nvSpPr>
        <p:spPr bwMode="auto">
          <a:xfrm>
            <a:off x="-168979" y="252437"/>
            <a:ext cx="3403600" cy="829945"/>
          </a:xfrm>
          <a:prstGeom prst="rect">
            <a:avLst/>
          </a:prstGeom>
          <a:noFill/>
          <a:ln>
            <a:noFill/>
          </a:ln>
        </p:spPr>
        <p:txBody>
          <a:bodyPr wrap="square" rtlCol="0">
            <a:spAutoFit/>
          </a:bodyPr>
          <a:lstStyle/>
          <a:p>
            <a:pPr algn="ctr" defTabSz="457200"/>
            <a:r>
              <a:rPr lang="zh-CN" altLang="en-US" sz="4800" b="1">
                <a:ln w="38100">
                  <a:noFill/>
                </a:ln>
                <a:gradFill>
                  <a:gsLst>
                    <a:gs pos="0">
                      <a:srgbClr val="FCC490"/>
                    </a:gs>
                    <a:gs pos="100000">
                      <a:srgbClr val="FCC896"/>
                    </a:gs>
                  </a:gsLst>
                  <a:lin ang="0" scaled="1"/>
                </a:gradFill>
                <a:latin typeface="+mj-ea"/>
                <a:ea typeface="+mj-ea"/>
                <a:cs typeface="Philosopher" panose="00000500000000000000" charset="0"/>
                <a:sym typeface="Open Sans" panose="020B0606030504020204" charset="0"/>
              </a:rPr>
              <a:t>CONTENTS</a:t>
            </a:r>
          </a:p>
        </p:txBody>
      </p:sp>
      <p:sp>
        <p:nvSpPr>
          <p:cNvPr id="57" name="文本框 56">
            <a:extLst>
              <a:ext uri="{FF2B5EF4-FFF2-40B4-BE49-F238E27FC236}">
                <a16:creationId xmlns:a16="http://schemas.microsoft.com/office/drawing/2014/main" id="{DB51F521-48CD-EE88-21FE-3401A631F654}"/>
              </a:ext>
            </a:extLst>
          </p:cNvPr>
          <p:cNvSpPr txBox="1"/>
          <p:nvPr/>
        </p:nvSpPr>
        <p:spPr>
          <a:xfrm>
            <a:off x="-6510" y="3006"/>
            <a:ext cx="765162" cy="306705"/>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r>
              <a:rPr lang="en-US" altLang="zh-CN" sz="1400" spc="0">
                <a:solidFill>
                  <a:schemeClr val="tx1">
                    <a:lumMod val="65000"/>
                    <a:lumOff val="35000"/>
                  </a:schemeClr>
                </a:solidFill>
                <a:effectLst/>
                <a:cs typeface="Philosopher" panose="00000500000000000000" charset="0"/>
                <a:sym typeface="Open Sans" panose="020B0606030504020204" charset="0"/>
              </a:rPr>
              <a:t>VR</a:t>
            </a:r>
          </a:p>
        </p:txBody>
      </p:sp>
      <p:sp>
        <p:nvSpPr>
          <p:cNvPr id="7" name="TextBox 6">
            <a:extLst>
              <a:ext uri="{FF2B5EF4-FFF2-40B4-BE49-F238E27FC236}">
                <a16:creationId xmlns:a16="http://schemas.microsoft.com/office/drawing/2014/main" id="{F2184BDC-B9F7-62CF-3520-6D04ED327720}"/>
              </a:ext>
            </a:extLst>
          </p:cNvPr>
          <p:cNvSpPr txBox="1"/>
          <p:nvPr/>
        </p:nvSpPr>
        <p:spPr>
          <a:xfrm>
            <a:off x="86918" y="1495027"/>
            <a:ext cx="3665463"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FCC490"/>
                </a:solidFill>
                <a:latin typeface="Philosopher"/>
              </a:rPr>
              <a:t>02. Project Objectives</a:t>
            </a:r>
            <a:endParaRPr lang="en-US" sz="2400" dirty="0">
              <a:solidFill>
                <a:srgbClr val="FCC490"/>
              </a:solidFill>
              <a:latin typeface="Philosopher"/>
            </a:endParaRPr>
          </a:p>
          <a:p>
            <a:pPr algn="ctr"/>
            <a:endParaRPr lang="en-US"/>
          </a:p>
        </p:txBody>
      </p:sp>
      <p:sp>
        <p:nvSpPr>
          <p:cNvPr id="9" name="TextBox 8">
            <a:extLst>
              <a:ext uri="{FF2B5EF4-FFF2-40B4-BE49-F238E27FC236}">
                <a16:creationId xmlns:a16="http://schemas.microsoft.com/office/drawing/2014/main" id="{127E270D-3EEE-13C9-8568-28209498EDEB}"/>
              </a:ext>
            </a:extLst>
          </p:cNvPr>
          <p:cNvSpPr txBox="1"/>
          <p:nvPr/>
        </p:nvSpPr>
        <p:spPr>
          <a:xfrm>
            <a:off x="86918" y="192484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03. Dataset Description</a:t>
            </a:r>
            <a:endParaRPr lang="en-US" dirty="0">
              <a:solidFill>
                <a:srgbClr val="FCC490"/>
              </a:solidFill>
              <a:latin typeface="Philosopher"/>
            </a:endParaRPr>
          </a:p>
          <a:p>
            <a:pPr algn="ctr"/>
            <a:endParaRPr lang="en-US"/>
          </a:p>
        </p:txBody>
      </p:sp>
      <p:sp>
        <p:nvSpPr>
          <p:cNvPr id="10" name="TextBox 9">
            <a:extLst>
              <a:ext uri="{FF2B5EF4-FFF2-40B4-BE49-F238E27FC236}">
                <a16:creationId xmlns:a16="http://schemas.microsoft.com/office/drawing/2014/main" id="{E67C1DD8-F13C-1B58-EC5A-ACDC7E2951D0}"/>
              </a:ext>
            </a:extLst>
          </p:cNvPr>
          <p:cNvSpPr txBox="1"/>
          <p:nvPr/>
        </p:nvSpPr>
        <p:spPr>
          <a:xfrm>
            <a:off x="86918" y="238878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04. Data Processing</a:t>
            </a:r>
            <a:endParaRPr lang="en-US" dirty="0">
              <a:solidFill>
                <a:srgbClr val="FCC490"/>
              </a:solidFill>
              <a:latin typeface="Philosopher"/>
            </a:endParaRPr>
          </a:p>
          <a:p>
            <a:pPr algn="ctr"/>
            <a:endParaRPr lang="en-US"/>
          </a:p>
        </p:txBody>
      </p:sp>
      <p:sp>
        <p:nvSpPr>
          <p:cNvPr id="11" name="TextBox 10">
            <a:extLst>
              <a:ext uri="{FF2B5EF4-FFF2-40B4-BE49-F238E27FC236}">
                <a16:creationId xmlns:a16="http://schemas.microsoft.com/office/drawing/2014/main" id="{F5D28D54-837E-90BD-C626-D3B0836175B4}"/>
              </a:ext>
            </a:extLst>
          </p:cNvPr>
          <p:cNvSpPr txBox="1"/>
          <p:nvPr/>
        </p:nvSpPr>
        <p:spPr>
          <a:xfrm>
            <a:off x="86918" y="2818885"/>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05. Machine Learning Model</a:t>
            </a:r>
            <a:endParaRPr lang="en-US" dirty="0">
              <a:solidFill>
                <a:srgbClr val="FCC490"/>
              </a:solidFill>
              <a:latin typeface="Philosopher"/>
            </a:endParaRPr>
          </a:p>
          <a:p>
            <a:pPr algn="ctr"/>
            <a:endParaRPr lang="en-US"/>
          </a:p>
        </p:txBody>
      </p:sp>
      <p:sp>
        <p:nvSpPr>
          <p:cNvPr id="12" name="TextBox 11">
            <a:extLst>
              <a:ext uri="{FF2B5EF4-FFF2-40B4-BE49-F238E27FC236}">
                <a16:creationId xmlns:a16="http://schemas.microsoft.com/office/drawing/2014/main" id="{E6C0B9A6-D412-FED4-5498-ED3C81288542}"/>
              </a:ext>
            </a:extLst>
          </p:cNvPr>
          <p:cNvSpPr txBox="1"/>
          <p:nvPr/>
        </p:nvSpPr>
        <p:spPr>
          <a:xfrm>
            <a:off x="86918" y="3243649"/>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06. Model </a:t>
            </a:r>
            <a:r>
              <a:rPr lang="en-US" dirty="0" err="1">
                <a:solidFill>
                  <a:srgbClr val="FCC490"/>
                </a:solidFill>
                <a:latin typeface="Philosopher"/>
              </a:rPr>
              <a:t>Evaluat</a:t>
            </a:r>
            <a:r>
              <a:rPr lang="en-US" dirty="0">
                <a:solidFill>
                  <a:srgbClr val="FCC490"/>
                </a:solidFill>
                <a:latin typeface="Philosopher"/>
              </a:rPr>
              <a:t>ion</a:t>
            </a:r>
          </a:p>
          <a:p>
            <a:pPr algn="ctr"/>
            <a:endParaRPr lang="en-US"/>
          </a:p>
        </p:txBody>
      </p:sp>
      <p:sp>
        <p:nvSpPr>
          <p:cNvPr id="13" name="TextBox 12">
            <a:extLst>
              <a:ext uri="{FF2B5EF4-FFF2-40B4-BE49-F238E27FC236}">
                <a16:creationId xmlns:a16="http://schemas.microsoft.com/office/drawing/2014/main" id="{AAA82053-B0C4-7F05-C778-411BAF38496B}"/>
              </a:ext>
            </a:extLst>
          </p:cNvPr>
          <p:cNvSpPr txBox="1"/>
          <p:nvPr/>
        </p:nvSpPr>
        <p:spPr>
          <a:xfrm>
            <a:off x="86918" y="3678803"/>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07. Key Findings</a:t>
            </a:r>
            <a:endParaRPr lang="en-US" dirty="0">
              <a:solidFill>
                <a:srgbClr val="FCC490"/>
              </a:solidFill>
              <a:latin typeface="Philosopher"/>
            </a:endParaRPr>
          </a:p>
          <a:p>
            <a:pPr algn="ctr"/>
            <a:endParaRPr lang="en-US"/>
          </a:p>
        </p:txBody>
      </p:sp>
      <p:sp>
        <p:nvSpPr>
          <p:cNvPr id="14" name="TextBox 13">
            <a:extLst>
              <a:ext uri="{FF2B5EF4-FFF2-40B4-BE49-F238E27FC236}">
                <a16:creationId xmlns:a16="http://schemas.microsoft.com/office/drawing/2014/main" id="{908FF640-6E52-1A81-6E5C-B2924D8D7612}"/>
              </a:ext>
            </a:extLst>
          </p:cNvPr>
          <p:cNvSpPr txBox="1"/>
          <p:nvPr/>
        </p:nvSpPr>
        <p:spPr>
          <a:xfrm>
            <a:off x="86918" y="1083042"/>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01. Introduction &amp; Problem Statement</a:t>
            </a:r>
            <a:endParaRPr lang="en-US" dirty="0">
              <a:solidFill>
                <a:srgbClr val="FCC490"/>
              </a:solidFill>
              <a:latin typeface="Philosopher"/>
            </a:endParaRPr>
          </a:p>
          <a:p>
            <a:pPr algn="ctr"/>
            <a:endParaRPr lang="en-US"/>
          </a:p>
        </p:txBody>
      </p:sp>
      <p:sp>
        <p:nvSpPr>
          <p:cNvPr id="17" name="TextBox 16">
            <a:extLst>
              <a:ext uri="{FF2B5EF4-FFF2-40B4-BE49-F238E27FC236}">
                <a16:creationId xmlns:a16="http://schemas.microsoft.com/office/drawing/2014/main" id="{7D0DCFDD-7116-346B-C9B7-5EC2E0519C4C}"/>
              </a:ext>
            </a:extLst>
          </p:cNvPr>
          <p:cNvSpPr txBox="1"/>
          <p:nvPr/>
        </p:nvSpPr>
        <p:spPr>
          <a:xfrm>
            <a:off x="83127" y="3860222"/>
            <a:ext cx="4572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rgbClr val="FCC490"/>
              </a:solidFill>
              <a:latin typeface="Philosopher"/>
            </a:endParaRPr>
          </a:p>
          <a:p>
            <a:r>
              <a:rPr lang="en-US">
                <a:solidFill>
                  <a:srgbClr val="FCC490"/>
                </a:solidFill>
                <a:latin typeface="Philosopher"/>
              </a:rPr>
              <a:t>08. Challenges</a:t>
            </a:r>
            <a:r>
              <a:rPr lang="en-US" dirty="0">
                <a:solidFill>
                  <a:srgbClr val="FCC490"/>
                </a:solidFill>
                <a:latin typeface="Philosopher"/>
              </a:rPr>
              <a:t> Encountered</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a:cs typeface="Open Sans"/>
            </a:endParaRPr>
          </a:p>
          <a:p>
            <a:pPr algn="ctr"/>
            <a:endParaRPr lang="en-US"/>
          </a:p>
        </p:txBody>
      </p:sp>
      <p:sp>
        <p:nvSpPr>
          <p:cNvPr id="18" name="TextBox 17">
            <a:extLst>
              <a:ext uri="{FF2B5EF4-FFF2-40B4-BE49-F238E27FC236}">
                <a16:creationId xmlns:a16="http://schemas.microsoft.com/office/drawing/2014/main" id="{47765A1E-8786-A915-F29D-B03D6C25EBDC}"/>
              </a:ext>
            </a:extLst>
          </p:cNvPr>
          <p:cNvSpPr txBox="1"/>
          <p:nvPr/>
        </p:nvSpPr>
        <p:spPr>
          <a:xfrm>
            <a:off x="83126" y="4684568"/>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09. Conclusion &amp; Recommendati</a:t>
            </a:r>
            <a:r>
              <a:rPr lang="en-US" dirty="0">
                <a:solidFill>
                  <a:srgbClr val="FCC490"/>
                </a:solidFill>
                <a:latin typeface="Philosopher"/>
              </a:rPr>
              <a:t>ons</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dirty="0"/>
          </a:p>
          <a:p>
            <a:pPr algn="ctr"/>
            <a:endParaRPr lang="en-US"/>
          </a:p>
        </p:txBody>
      </p:sp>
      <p:sp>
        <p:nvSpPr>
          <p:cNvPr id="3" name="TextBox 2">
            <a:extLst>
              <a:ext uri="{FF2B5EF4-FFF2-40B4-BE49-F238E27FC236}">
                <a16:creationId xmlns:a16="http://schemas.microsoft.com/office/drawing/2014/main" id="{7FA1D50D-D38D-14AD-30FB-9FD5B3CD74E6}"/>
              </a:ext>
            </a:extLst>
          </p:cNvPr>
          <p:cNvSpPr txBox="1"/>
          <p:nvPr/>
        </p:nvSpPr>
        <p:spPr>
          <a:xfrm>
            <a:off x="3858926" y="952101"/>
            <a:ext cx="5219699"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chemeClr val="bg2">
                    <a:lumMod val="76000"/>
                  </a:schemeClr>
                </a:solidFill>
                <a:ea typeface="+mn-lt"/>
                <a:cs typeface="+mn-lt"/>
              </a:rPr>
              <a:t>The primary </a:t>
            </a:r>
            <a:r>
              <a:rPr lang="en-US" sz="1600" b="1" dirty="0">
                <a:solidFill>
                  <a:schemeClr val="bg2">
                    <a:lumMod val="76000"/>
                  </a:schemeClr>
                </a:solidFill>
                <a:ea typeface="+mn-lt"/>
                <a:cs typeface="+mn-lt"/>
              </a:rPr>
              <a:t>objective</a:t>
            </a:r>
            <a:r>
              <a:rPr lang="en-US" sz="1600" dirty="0">
                <a:solidFill>
                  <a:schemeClr val="bg2">
                    <a:lumMod val="76000"/>
                  </a:schemeClr>
                </a:solidFill>
                <a:ea typeface="+mn-lt"/>
                <a:cs typeface="+mn-lt"/>
              </a:rPr>
              <a:t> of this project was to </a:t>
            </a:r>
            <a:r>
              <a:rPr lang="en-US" sz="1600" b="1" dirty="0">
                <a:solidFill>
                  <a:schemeClr val="bg2">
                    <a:lumMod val="76000"/>
                  </a:schemeClr>
                </a:solidFill>
                <a:ea typeface="+mn-lt"/>
                <a:cs typeface="+mn-lt"/>
              </a:rPr>
              <a:t>develop</a:t>
            </a:r>
            <a:r>
              <a:rPr lang="en-US" sz="1600" dirty="0">
                <a:solidFill>
                  <a:schemeClr val="bg2">
                    <a:lumMod val="76000"/>
                  </a:schemeClr>
                </a:solidFill>
                <a:ea typeface="+mn-lt"/>
                <a:cs typeface="+mn-lt"/>
              </a:rPr>
              <a:t> and </a:t>
            </a:r>
            <a:r>
              <a:rPr lang="en-US" sz="1600" b="1" dirty="0">
                <a:solidFill>
                  <a:schemeClr val="bg2">
                    <a:lumMod val="76000"/>
                  </a:schemeClr>
                </a:solidFill>
                <a:ea typeface="+mn-lt"/>
                <a:cs typeface="+mn-lt"/>
              </a:rPr>
              <a:t>evaluate</a:t>
            </a:r>
            <a:r>
              <a:rPr lang="en-US" sz="1600" dirty="0">
                <a:solidFill>
                  <a:schemeClr val="bg2">
                    <a:lumMod val="76000"/>
                  </a:schemeClr>
                </a:solidFill>
                <a:ea typeface="+mn-lt"/>
                <a:cs typeface="+mn-lt"/>
              </a:rPr>
              <a:t> a machine learning model capable of predicting loan default risk using financial and demographic borrower data.</a:t>
            </a:r>
            <a:endParaRPr lang="en-US" sz="1600">
              <a:solidFill>
                <a:schemeClr val="bg2">
                  <a:lumMod val="76000"/>
                </a:schemeClr>
              </a:solidFill>
              <a:cs typeface="Open Sans"/>
            </a:endParaRPr>
          </a:p>
        </p:txBody>
      </p:sp>
      <p:sp>
        <p:nvSpPr>
          <p:cNvPr id="4" name="TextBox 3">
            <a:extLst>
              <a:ext uri="{FF2B5EF4-FFF2-40B4-BE49-F238E27FC236}">
                <a16:creationId xmlns:a16="http://schemas.microsoft.com/office/drawing/2014/main" id="{F887DA9C-AB40-753B-F326-45EAB0A6175A}"/>
              </a:ext>
            </a:extLst>
          </p:cNvPr>
          <p:cNvSpPr txBox="1"/>
          <p:nvPr/>
        </p:nvSpPr>
        <p:spPr>
          <a:xfrm>
            <a:off x="3189643" y="1917489"/>
            <a:ext cx="5949950"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bg2">
                    <a:lumMod val="76000"/>
                  </a:schemeClr>
                </a:solidFill>
                <a:cs typeface="Open Sans"/>
              </a:rPr>
              <a:t>Predict Loan Defaults</a:t>
            </a:r>
            <a:endParaRPr lang="en-US"/>
          </a:p>
          <a:p>
            <a:r>
              <a:rPr lang="en-US" sz="1400">
                <a:solidFill>
                  <a:schemeClr val="bg2">
                    <a:lumMod val="76000"/>
                  </a:schemeClr>
                </a:solidFill>
                <a:ea typeface="+mn-lt"/>
                <a:cs typeface="+mn-lt"/>
              </a:rPr>
              <a:t>Classify borrowers as defaulters or non-defaulters based on historical data.</a:t>
            </a:r>
            <a:endParaRPr lang="en-US" sz="1400">
              <a:solidFill>
                <a:schemeClr val="bg2">
                  <a:lumMod val="76000"/>
                </a:schemeClr>
              </a:solidFill>
            </a:endParaRPr>
          </a:p>
          <a:p>
            <a:r>
              <a:rPr lang="en-US" sz="1600" b="1">
                <a:solidFill>
                  <a:schemeClr val="bg2">
                    <a:lumMod val="76000"/>
                  </a:schemeClr>
                </a:solidFill>
                <a:cs typeface="Open Sans"/>
              </a:rPr>
              <a:t>Analyze</a:t>
            </a:r>
            <a:r>
              <a:rPr lang="en-US" sz="1600" b="1" dirty="0">
                <a:solidFill>
                  <a:schemeClr val="bg2">
                    <a:lumMod val="76000"/>
                  </a:schemeClr>
                </a:solidFill>
                <a:cs typeface="Open Sans"/>
              </a:rPr>
              <a:t> Borrower Data</a:t>
            </a:r>
          </a:p>
          <a:p>
            <a:r>
              <a:rPr lang="en-US" sz="1400">
                <a:solidFill>
                  <a:schemeClr val="bg2">
                    <a:lumMod val="76000"/>
                  </a:schemeClr>
                </a:solidFill>
                <a:ea typeface="+mn-lt"/>
                <a:cs typeface="+mn-lt"/>
              </a:rPr>
              <a:t>Examine financial and demographic variables influencing default risk.</a:t>
            </a:r>
            <a:endParaRPr lang="en-US" sz="1400">
              <a:solidFill>
                <a:schemeClr val="bg2">
                  <a:lumMod val="76000"/>
                </a:schemeClr>
              </a:solidFill>
            </a:endParaRPr>
          </a:p>
          <a:p>
            <a:endParaRPr lang="en-US" sz="1400" dirty="0">
              <a:solidFill>
                <a:schemeClr val="bg2">
                  <a:lumMod val="76000"/>
                </a:schemeClr>
              </a:solidFill>
              <a:cs typeface="Open Sans"/>
            </a:endParaRPr>
          </a:p>
          <a:p>
            <a:r>
              <a:rPr lang="en-US" sz="1600" b="1">
                <a:solidFill>
                  <a:schemeClr val="bg2">
                    <a:lumMod val="76000"/>
                  </a:schemeClr>
                </a:solidFill>
                <a:cs typeface="Open Sans"/>
              </a:rPr>
              <a:t>Evaluate Model Performance</a:t>
            </a:r>
          </a:p>
          <a:p>
            <a:r>
              <a:rPr lang="en-US" sz="1400">
                <a:solidFill>
                  <a:schemeClr val="bg2">
                    <a:lumMod val="76000"/>
                  </a:schemeClr>
                </a:solidFill>
                <a:ea typeface="+mn-lt"/>
                <a:cs typeface="+mn-lt"/>
              </a:rPr>
              <a:t>Measure model effectiveness using classification metrics and confusion matrix analysis</a:t>
            </a:r>
            <a:r>
              <a:rPr lang="en-US" sz="1600">
                <a:solidFill>
                  <a:schemeClr val="bg2">
                    <a:lumMod val="76000"/>
                  </a:schemeClr>
                </a:solidFill>
                <a:ea typeface="+mn-lt"/>
                <a:cs typeface="+mn-lt"/>
              </a:rPr>
              <a:t>.</a:t>
            </a:r>
            <a:endParaRPr lang="en-US">
              <a:solidFill>
                <a:schemeClr val="bg2">
                  <a:lumMod val="76000"/>
                </a:schemeClr>
              </a:solidFill>
            </a:endParaRPr>
          </a:p>
          <a:p>
            <a:r>
              <a:rPr lang="en-US" sz="1600" b="1" err="1">
                <a:solidFill>
                  <a:schemeClr val="bg2">
                    <a:lumMod val="76000"/>
                  </a:schemeClr>
                </a:solidFill>
                <a:cs typeface="Open Sans"/>
              </a:rPr>
              <a:t>Suppo</a:t>
            </a:r>
            <a:r>
              <a:rPr lang="en-US" sz="1600" b="1">
                <a:solidFill>
                  <a:schemeClr val="bg2">
                    <a:lumMod val="76000"/>
                  </a:schemeClr>
                </a:solidFill>
                <a:cs typeface="Open Sans"/>
              </a:rPr>
              <a:t>rt Financial Decision Making</a:t>
            </a:r>
          </a:p>
          <a:p>
            <a:r>
              <a:rPr lang="en-US" sz="1400" dirty="0">
                <a:solidFill>
                  <a:schemeClr val="bg2">
                    <a:lumMod val="76000"/>
                  </a:schemeClr>
                </a:solidFill>
                <a:ea typeface="+mn-lt"/>
                <a:cs typeface="+mn-lt"/>
              </a:rPr>
              <a:t>Demonstrate how machine learning can assist lenders in risk assessment.</a:t>
            </a:r>
            <a:endParaRPr lang="en-US" sz="1400" dirty="0">
              <a:solidFill>
                <a:schemeClr val="bg2">
                  <a:lumMod val="76000"/>
                </a:schemeClr>
              </a:solidFill>
            </a:endParaRPr>
          </a:p>
        </p:txBody>
      </p:sp>
    </p:spTree>
    <p:extLst>
      <p:ext uri="{BB962C8B-B14F-4D97-AF65-F5344CB8AC3E}">
        <p14:creationId xmlns:p14="http://schemas.microsoft.com/office/powerpoint/2010/main" val="19143997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p:tgtEl>
                                          <p:spTgt spid="3"/>
                                        </p:tgtEl>
                                        <p:attrNameLst>
                                          <p:attrName>ppt_y</p:attrName>
                                        </p:attrNameLst>
                                      </p:cBhvr>
                                      <p:tavLst>
                                        <p:tav tm="0">
                                          <p:val>
                                            <p:strVal val="#ppt_y+#ppt_h*1.125000"/>
                                          </p:val>
                                        </p:tav>
                                        <p:tav tm="100000">
                                          <p:val>
                                            <p:strVal val="#ppt_y"/>
                                          </p:val>
                                        </p:tav>
                                      </p:tavLst>
                                    </p:anim>
                                    <p:animEffect transition="in" filter="wipe(up)">
                                      <p:cBhvr>
                                        <p:cTn id="11" dur="500"/>
                                        <p:tgtEl>
                                          <p:spTgt spid="3"/>
                                        </p:tgtEl>
                                      </p:cBhvr>
                                    </p:animEffect>
                                  </p:childTnLst>
                                </p:cTn>
                              </p:par>
                              <p:par>
                                <p:cTn id="12" presetID="37"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900" decel="100000" fill="hold"/>
                                        <p:tgtEl>
                                          <p:spTgt spid="4"/>
                                        </p:tgtEl>
                                        <p:attrNameLst>
                                          <p:attrName>ppt_y</p:attrName>
                                        </p:attrNameLst>
                                      </p:cBhvr>
                                      <p:tavLst>
                                        <p:tav tm="0">
                                          <p:val>
                                            <p:strVal val="#ppt_y+1"/>
                                          </p:val>
                                        </p:tav>
                                        <p:tav tm="100000">
                                          <p:val>
                                            <p:strVal val="#ppt_y-.03"/>
                                          </p:val>
                                        </p:tav>
                                      </p:tavLst>
                                    </p:anim>
                                    <p:anim calcmode="lin" valueType="num">
                                      <p:cBhvr>
                                        <p:cTn id="17"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ACB06-1863-FED8-C7B7-7A64B5087862}"/>
            </a:ext>
          </a:extLst>
        </p:cNvPr>
        <p:cNvGrpSpPr/>
        <p:nvPr/>
      </p:nvGrpSpPr>
      <p:grpSpPr>
        <a:xfrm>
          <a:off x="0" y="0"/>
          <a:ext cx="0" cy="0"/>
          <a:chOff x="0" y="0"/>
          <a:chExt cx="0" cy="0"/>
        </a:xfrm>
      </p:grpSpPr>
      <p:pic>
        <p:nvPicPr>
          <p:cNvPr id="98" name="图片 97">
            <a:extLst>
              <a:ext uri="{FF2B5EF4-FFF2-40B4-BE49-F238E27FC236}">
                <a16:creationId xmlns:a16="http://schemas.microsoft.com/office/drawing/2014/main" id="{23E08015-8FB5-933B-6FF9-53E0740E6D2D}"/>
              </a:ext>
            </a:extLst>
          </p:cNvPr>
          <p:cNvPicPr>
            <a:picLocks noChangeAspect="1"/>
          </p:cNvPicPr>
          <p:nvPr/>
        </p:nvPicPr>
        <p:blipFill rotWithShape="1">
          <a:blip r:embed="rId3"/>
          <a:srcRect t="11284" b="11844"/>
          <a:stretch>
            <a:fillRect/>
          </a:stretch>
        </p:blipFill>
        <p:spPr>
          <a:xfrm>
            <a:off x="145787" y="3478"/>
            <a:ext cx="5010912" cy="5143500"/>
          </a:xfrm>
          <a:prstGeom prst="rect">
            <a:avLst/>
          </a:prstGeom>
        </p:spPr>
      </p:pic>
      <p:sp>
        <p:nvSpPr>
          <p:cNvPr id="99" name="矩形 98">
            <a:extLst>
              <a:ext uri="{FF2B5EF4-FFF2-40B4-BE49-F238E27FC236}">
                <a16:creationId xmlns:a16="http://schemas.microsoft.com/office/drawing/2014/main" id="{1F81F754-E9B4-CBA6-8B17-1AE40C394ABF}"/>
              </a:ext>
            </a:extLst>
          </p:cNvPr>
          <p:cNvSpPr/>
          <p:nvPr/>
        </p:nvSpPr>
        <p:spPr bwMode="auto">
          <a:xfrm>
            <a:off x="-168979" y="252437"/>
            <a:ext cx="3403600" cy="829945"/>
          </a:xfrm>
          <a:prstGeom prst="rect">
            <a:avLst/>
          </a:prstGeom>
          <a:noFill/>
          <a:ln>
            <a:noFill/>
          </a:ln>
        </p:spPr>
        <p:txBody>
          <a:bodyPr wrap="square" rtlCol="0">
            <a:spAutoFit/>
          </a:bodyPr>
          <a:lstStyle/>
          <a:p>
            <a:pPr algn="ctr" defTabSz="457200"/>
            <a:r>
              <a:rPr lang="zh-CN" altLang="en-US" sz="4800" b="1">
                <a:ln w="38100">
                  <a:noFill/>
                </a:ln>
                <a:gradFill>
                  <a:gsLst>
                    <a:gs pos="0">
                      <a:srgbClr val="FCC490"/>
                    </a:gs>
                    <a:gs pos="100000">
                      <a:srgbClr val="FCC896"/>
                    </a:gs>
                  </a:gsLst>
                  <a:lin ang="0" scaled="1"/>
                </a:gradFill>
                <a:latin typeface="+mj-ea"/>
                <a:ea typeface="+mj-ea"/>
                <a:cs typeface="Philosopher" panose="00000500000000000000" charset="0"/>
                <a:sym typeface="Open Sans" panose="020B0606030504020204" charset="0"/>
              </a:rPr>
              <a:t>CONTENTS</a:t>
            </a:r>
          </a:p>
        </p:txBody>
      </p:sp>
      <p:sp>
        <p:nvSpPr>
          <p:cNvPr id="57" name="文本框 56">
            <a:extLst>
              <a:ext uri="{FF2B5EF4-FFF2-40B4-BE49-F238E27FC236}">
                <a16:creationId xmlns:a16="http://schemas.microsoft.com/office/drawing/2014/main" id="{1371D953-F554-55E6-3971-708C33A59035}"/>
              </a:ext>
            </a:extLst>
          </p:cNvPr>
          <p:cNvSpPr txBox="1"/>
          <p:nvPr/>
        </p:nvSpPr>
        <p:spPr>
          <a:xfrm>
            <a:off x="-6510" y="3006"/>
            <a:ext cx="765162" cy="306705"/>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r>
              <a:rPr lang="en-US" altLang="zh-CN" sz="1400" spc="0">
                <a:solidFill>
                  <a:schemeClr val="tx1">
                    <a:lumMod val="65000"/>
                    <a:lumOff val="35000"/>
                  </a:schemeClr>
                </a:solidFill>
                <a:effectLst/>
                <a:cs typeface="Philosopher" panose="00000500000000000000" charset="0"/>
                <a:sym typeface="Open Sans" panose="020B0606030504020204" charset="0"/>
              </a:rPr>
              <a:t>VR</a:t>
            </a:r>
          </a:p>
        </p:txBody>
      </p:sp>
      <p:sp>
        <p:nvSpPr>
          <p:cNvPr id="7" name="TextBox 6">
            <a:extLst>
              <a:ext uri="{FF2B5EF4-FFF2-40B4-BE49-F238E27FC236}">
                <a16:creationId xmlns:a16="http://schemas.microsoft.com/office/drawing/2014/main" id="{C026013E-B921-E071-2097-115A4F91E546}"/>
              </a:ext>
            </a:extLst>
          </p:cNvPr>
          <p:cNvSpPr txBox="1"/>
          <p:nvPr/>
        </p:nvSpPr>
        <p:spPr>
          <a:xfrm>
            <a:off x="86918" y="1495027"/>
            <a:ext cx="25640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02. Project Objectives</a:t>
            </a:r>
            <a:endParaRPr lang="en-US" dirty="0">
              <a:solidFill>
                <a:srgbClr val="FCC490"/>
              </a:solidFill>
              <a:latin typeface="Philosopher"/>
            </a:endParaRPr>
          </a:p>
          <a:p>
            <a:pPr algn="ctr"/>
            <a:endParaRPr lang="en-US"/>
          </a:p>
        </p:txBody>
      </p:sp>
      <p:sp>
        <p:nvSpPr>
          <p:cNvPr id="9" name="TextBox 8">
            <a:extLst>
              <a:ext uri="{FF2B5EF4-FFF2-40B4-BE49-F238E27FC236}">
                <a16:creationId xmlns:a16="http://schemas.microsoft.com/office/drawing/2014/main" id="{C292BD4F-5BEF-F017-854B-C4A106A4A116}"/>
              </a:ext>
            </a:extLst>
          </p:cNvPr>
          <p:cNvSpPr txBox="1"/>
          <p:nvPr/>
        </p:nvSpPr>
        <p:spPr>
          <a:xfrm>
            <a:off x="86918" y="1924846"/>
            <a:ext cx="4572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FCC490"/>
                </a:solidFill>
                <a:latin typeface="Philosopher"/>
              </a:rPr>
              <a:t>03. Dataset Description</a:t>
            </a:r>
            <a:endParaRPr lang="en-US" sz="2400" dirty="0">
              <a:solidFill>
                <a:srgbClr val="FCC490"/>
              </a:solidFill>
              <a:latin typeface="Philosopher"/>
            </a:endParaRPr>
          </a:p>
          <a:p>
            <a:pPr algn="ctr"/>
            <a:endParaRPr lang="en-US"/>
          </a:p>
        </p:txBody>
      </p:sp>
      <p:sp>
        <p:nvSpPr>
          <p:cNvPr id="10" name="TextBox 9">
            <a:extLst>
              <a:ext uri="{FF2B5EF4-FFF2-40B4-BE49-F238E27FC236}">
                <a16:creationId xmlns:a16="http://schemas.microsoft.com/office/drawing/2014/main" id="{1F1BFA09-AEE8-EFDE-4BBB-BA198B9EF091}"/>
              </a:ext>
            </a:extLst>
          </p:cNvPr>
          <p:cNvSpPr txBox="1"/>
          <p:nvPr/>
        </p:nvSpPr>
        <p:spPr>
          <a:xfrm>
            <a:off x="86918" y="238878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04. Data Processing</a:t>
            </a:r>
            <a:endParaRPr lang="en-US" dirty="0">
              <a:solidFill>
                <a:srgbClr val="FCC490"/>
              </a:solidFill>
              <a:latin typeface="Philosopher"/>
            </a:endParaRPr>
          </a:p>
          <a:p>
            <a:pPr algn="ctr"/>
            <a:endParaRPr lang="en-US"/>
          </a:p>
        </p:txBody>
      </p:sp>
      <p:sp>
        <p:nvSpPr>
          <p:cNvPr id="11" name="TextBox 10">
            <a:extLst>
              <a:ext uri="{FF2B5EF4-FFF2-40B4-BE49-F238E27FC236}">
                <a16:creationId xmlns:a16="http://schemas.microsoft.com/office/drawing/2014/main" id="{A3F2DF28-C455-91FC-D48A-B365F82B24C2}"/>
              </a:ext>
            </a:extLst>
          </p:cNvPr>
          <p:cNvSpPr txBox="1"/>
          <p:nvPr/>
        </p:nvSpPr>
        <p:spPr>
          <a:xfrm>
            <a:off x="86918" y="2818885"/>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05. Machine Learning Model</a:t>
            </a:r>
            <a:endParaRPr lang="en-US" dirty="0">
              <a:solidFill>
                <a:srgbClr val="FCC490"/>
              </a:solidFill>
              <a:latin typeface="Philosopher"/>
            </a:endParaRPr>
          </a:p>
          <a:p>
            <a:pPr algn="ctr"/>
            <a:endParaRPr lang="en-US"/>
          </a:p>
        </p:txBody>
      </p:sp>
      <p:sp>
        <p:nvSpPr>
          <p:cNvPr id="12" name="TextBox 11">
            <a:extLst>
              <a:ext uri="{FF2B5EF4-FFF2-40B4-BE49-F238E27FC236}">
                <a16:creationId xmlns:a16="http://schemas.microsoft.com/office/drawing/2014/main" id="{3B9D526F-81B5-A877-09C8-A5EE4ECE9D9E}"/>
              </a:ext>
            </a:extLst>
          </p:cNvPr>
          <p:cNvSpPr txBox="1"/>
          <p:nvPr/>
        </p:nvSpPr>
        <p:spPr>
          <a:xfrm>
            <a:off x="86918" y="3243649"/>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06. Model </a:t>
            </a:r>
            <a:r>
              <a:rPr lang="en-US" dirty="0" err="1">
                <a:solidFill>
                  <a:srgbClr val="FCC490"/>
                </a:solidFill>
                <a:latin typeface="Philosopher"/>
              </a:rPr>
              <a:t>Evaluat</a:t>
            </a:r>
            <a:r>
              <a:rPr lang="en-US" dirty="0">
                <a:solidFill>
                  <a:srgbClr val="FCC490"/>
                </a:solidFill>
                <a:latin typeface="Philosopher"/>
              </a:rPr>
              <a:t>ion</a:t>
            </a:r>
          </a:p>
          <a:p>
            <a:pPr algn="ctr"/>
            <a:endParaRPr lang="en-US"/>
          </a:p>
        </p:txBody>
      </p:sp>
      <p:sp>
        <p:nvSpPr>
          <p:cNvPr id="13" name="TextBox 12">
            <a:extLst>
              <a:ext uri="{FF2B5EF4-FFF2-40B4-BE49-F238E27FC236}">
                <a16:creationId xmlns:a16="http://schemas.microsoft.com/office/drawing/2014/main" id="{3D09D8C0-38FE-5979-0CE4-0AA6F95F112D}"/>
              </a:ext>
            </a:extLst>
          </p:cNvPr>
          <p:cNvSpPr txBox="1"/>
          <p:nvPr/>
        </p:nvSpPr>
        <p:spPr>
          <a:xfrm>
            <a:off x="86918" y="3678803"/>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07. Key Findings</a:t>
            </a:r>
            <a:endParaRPr lang="en-US" dirty="0">
              <a:solidFill>
                <a:srgbClr val="FCC490"/>
              </a:solidFill>
              <a:latin typeface="Philosopher"/>
            </a:endParaRPr>
          </a:p>
          <a:p>
            <a:pPr algn="ctr"/>
            <a:endParaRPr lang="en-US"/>
          </a:p>
        </p:txBody>
      </p:sp>
      <p:sp>
        <p:nvSpPr>
          <p:cNvPr id="14" name="TextBox 13">
            <a:extLst>
              <a:ext uri="{FF2B5EF4-FFF2-40B4-BE49-F238E27FC236}">
                <a16:creationId xmlns:a16="http://schemas.microsoft.com/office/drawing/2014/main" id="{7F55B303-F2D8-0182-F2D3-040FD6EED7F9}"/>
              </a:ext>
            </a:extLst>
          </p:cNvPr>
          <p:cNvSpPr txBox="1"/>
          <p:nvPr/>
        </p:nvSpPr>
        <p:spPr>
          <a:xfrm>
            <a:off x="86918" y="1083042"/>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01. Introduction &amp; Problem Statement</a:t>
            </a:r>
            <a:endParaRPr lang="en-US" dirty="0">
              <a:solidFill>
                <a:srgbClr val="FCC490"/>
              </a:solidFill>
              <a:latin typeface="Philosopher"/>
            </a:endParaRPr>
          </a:p>
          <a:p>
            <a:pPr algn="ctr"/>
            <a:endParaRPr lang="en-US"/>
          </a:p>
        </p:txBody>
      </p:sp>
      <p:sp>
        <p:nvSpPr>
          <p:cNvPr id="17" name="TextBox 16">
            <a:extLst>
              <a:ext uri="{FF2B5EF4-FFF2-40B4-BE49-F238E27FC236}">
                <a16:creationId xmlns:a16="http://schemas.microsoft.com/office/drawing/2014/main" id="{A49F9521-1A73-88C1-6F2D-9383AECC6106}"/>
              </a:ext>
            </a:extLst>
          </p:cNvPr>
          <p:cNvSpPr txBox="1"/>
          <p:nvPr/>
        </p:nvSpPr>
        <p:spPr>
          <a:xfrm>
            <a:off x="83127" y="3860222"/>
            <a:ext cx="4572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rgbClr val="FCC490"/>
              </a:solidFill>
              <a:latin typeface="Philosopher"/>
            </a:endParaRPr>
          </a:p>
          <a:p>
            <a:r>
              <a:rPr lang="en-US">
                <a:solidFill>
                  <a:srgbClr val="FCC490"/>
                </a:solidFill>
                <a:latin typeface="Philosopher"/>
              </a:rPr>
              <a:t>08. Challenges</a:t>
            </a:r>
            <a:r>
              <a:rPr lang="en-US" dirty="0">
                <a:solidFill>
                  <a:srgbClr val="FCC490"/>
                </a:solidFill>
                <a:latin typeface="Philosopher"/>
              </a:rPr>
              <a:t> Encountered</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a:cs typeface="Open Sans"/>
            </a:endParaRPr>
          </a:p>
          <a:p>
            <a:pPr algn="ctr"/>
            <a:endParaRPr lang="en-US"/>
          </a:p>
        </p:txBody>
      </p:sp>
      <p:sp>
        <p:nvSpPr>
          <p:cNvPr id="18" name="TextBox 17">
            <a:extLst>
              <a:ext uri="{FF2B5EF4-FFF2-40B4-BE49-F238E27FC236}">
                <a16:creationId xmlns:a16="http://schemas.microsoft.com/office/drawing/2014/main" id="{3CAB7950-0E8B-DC8B-F0C0-1F416A33E98F}"/>
              </a:ext>
            </a:extLst>
          </p:cNvPr>
          <p:cNvSpPr txBox="1"/>
          <p:nvPr/>
        </p:nvSpPr>
        <p:spPr>
          <a:xfrm>
            <a:off x="83126" y="4494068"/>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09. Conclusion &amp; Recommendati</a:t>
            </a:r>
            <a:r>
              <a:rPr lang="en-US" dirty="0">
                <a:solidFill>
                  <a:srgbClr val="FCC490"/>
                </a:solidFill>
                <a:latin typeface="Philosopher"/>
              </a:rPr>
              <a:t>ons</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dirty="0"/>
          </a:p>
          <a:p>
            <a:pPr algn="ctr"/>
            <a:endParaRPr lang="en-US"/>
          </a:p>
        </p:txBody>
      </p:sp>
      <p:sp>
        <p:nvSpPr>
          <p:cNvPr id="2" name="TextBox 1">
            <a:extLst>
              <a:ext uri="{FF2B5EF4-FFF2-40B4-BE49-F238E27FC236}">
                <a16:creationId xmlns:a16="http://schemas.microsoft.com/office/drawing/2014/main" id="{B6F7128B-F6A4-CE94-6160-44820AFD523D}"/>
              </a:ext>
            </a:extLst>
          </p:cNvPr>
          <p:cNvSpPr txBox="1"/>
          <p:nvPr/>
        </p:nvSpPr>
        <p:spPr>
          <a:xfrm>
            <a:off x="3884219" y="247675"/>
            <a:ext cx="5415348" cy="51398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chemeClr val="bg2">
                    <a:lumMod val="76000"/>
                  </a:schemeClr>
                </a:solidFill>
                <a:ea typeface="+mn-lt"/>
                <a:cs typeface="+mn-lt"/>
              </a:rPr>
              <a:t>The dataset used in this project contained</a:t>
            </a:r>
            <a:r>
              <a:rPr lang="en-US" sz="1600" b="1" dirty="0">
                <a:solidFill>
                  <a:schemeClr val="bg2">
                    <a:lumMod val="76000"/>
                  </a:schemeClr>
                </a:solidFill>
                <a:ea typeface="+mn-lt"/>
                <a:cs typeface="+mn-lt"/>
              </a:rPr>
              <a:t> historical borrower information</a:t>
            </a:r>
            <a:r>
              <a:rPr lang="en-US" sz="1600" dirty="0">
                <a:solidFill>
                  <a:schemeClr val="bg2">
                    <a:lumMod val="76000"/>
                  </a:schemeClr>
                </a:solidFill>
                <a:ea typeface="+mn-lt"/>
                <a:cs typeface="+mn-lt"/>
              </a:rPr>
              <a:t> from the financial industry. It included both financial and demographic variables used to predict loan default risk.</a:t>
            </a:r>
            <a:endParaRPr lang="en-US" sz="1600" dirty="0">
              <a:solidFill>
                <a:schemeClr val="bg2">
                  <a:lumMod val="76000"/>
                </a:schemeClr>
              </a:solidFill>
              <a:cs typeface="Open Sans"/>
            </a:endParaRPr>
          </a:p>
          <a:p>
            <a:r>
              <a:rPr lang="en-US" sz="1600" b="1">
                <a:solidFill>
                  <a:schemeClr val="bg2">
                    <a:lumMod val="76000"/>
                  </a:schemeClr>
                </a:solidFill>
              </a:rPr>
              <a:t>Dataset Size:</a:t>
            </a:r>
            <a:endParaRPr lang="en-US" sz="1600" b="1">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5000 borrower records </a:t>
            </a:r>
            <a:endParaRPr lang="en-US" sz="1400">
              <a:solidFill>
                <a:schemeClr val="bg2">
                  <a:lumMod val="76000"/>
                </a:schemeClr>
              </a:solidFill>
              <a:cs typeface="Open Sans"/>
            </a:endParaRPr>
          </a:p>
          <a:p>
            <a:r>
              <a:rPr lang="en-US" sz="1600" b="1">
                <a:solidFill>
                  <a:schemeClr val="bg2">
                    <a:lumMod val="76000"/>
                  </a:schemeClr>
                </a:solidFill>
              </a:rPr>
              <a:t>Target Variable:</a:t>
            </a:r>
            <a:endParaRPr lang="en-US" sz="1600" b="1">
              <a:solidFill>
                <a:schemeClr val="bg2">
                  <a:lumMod val="76000"/>
                </a:schemeClr>
              </a:solidFill>
              <a:cs typeface="Open Sans"/>
            </a:endParaRPr>
          </a:p>
          <a:p>
            <a:pPr marL="285750" indent="-285750">
              <a:buFont typeface="Arial"/>
              <a:buChar char="•"/>
            </a:pPr>
            <a:r>
              <a:rPr lang="en-US" sz="1400" dirty="0" err="1">
                <a:solidFill>
                  <a:schemeClr val="bg2">
                    <a:lumMod val="76000"/>
                  </a:schemeClr>
                </a:solidFill>
                <a:latin typeface="Consolas"/>
              </a:rPr>
              <a:t>default_status</a:t>
            </a:r>
            <a:r>
              <a:rPr lang="en-US" sz="1400" dirty="0">
                <a:solidFill>
                  <a:schemeClr val="bg2">
                    <a:lumMod val="76000"/>
                  </a:schemeClr>
                </a:solidFill>
                <a:ea typeface="+mn-lt"/>
                <a:cs typeface="+mn-lt"/>
              </a:rPr>
              <a:t> </a:t>
            </a:r>
            <a:endParaRPr lang="en-US" sz="1400">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Indicates whether a borrower defaulted or not. </a:t>
            </a:r>
            <a:endParaRPr lang="en-US" sz="1400">
              <a:solidFill>
                <a:schemeClr val="bg2">
                  <a:lumMod val="76000"/>
                </a:schemeClr>
              </a:solidFill>
              <a:cs typeface="Open Sans"/>
            </a:endParaRPr>
          </a:p>
          <a:p>
            <a:r>
              <a:rPr lang="en-US" sz="1600" b="1">
                <a:solidFill>
                  <a:schemeClr val="bg2">
                    <a:lumMod val="76000"/>
                  </a:schemeClr>
                </a:solidFill>
              </a:rPr>
              <a:t>Key Features:</a:t>
            </a:r>
            <a:endParaRPr lang="en-US" sz="1600" b="1">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Loan amount </a:t>
            </a:r>
            <a:endParaRPr lang="en-US" sz="1400">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Interest rate </a:t>
            </a:r>
            <a:endParaRPr lang="en-US" sz="1400">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Loan term </a:t>
            </a:r>
            <a:endParaRPr lang="en-US" sz="1400">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Credit score </a:t>
            </a:r>
            <a:endParaRPr lang="en-US" sz="1400">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Employment type </a:t>
            </a:r>
            <a:endParaRPr lang="en-US" sz="1400">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Income level </a:t>
            </a:r>
            <a:endParaRPr lang="en-US" sz="1400">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Gender </a:t>
            </a:r>
            <a:endParaRPr lang="en-US" sz="1400">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Marital status </a:t>
            </a:r>
            <a:endParaRPr lang="en-US" sz="1400">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Education level </a:t>
            </a:r>
            <a:endParaRPr lang="en-US" sz="1400">
              <a:solidFill>
                <a:schemeClr val="bg2">
                  <a:lumMod val="76000"/>
                </a:schemeClr>
              </a:solidFill>
              <a:cs typeface="Open Sans"/>
            </a:endParaRPr>
          </a:p>
          <a:p>
            <a:r>
              <a:rPr lang="en-US" sz="1600" b="1">
                <a:solidFill>
                  <a:schemeClr val="bg2">
                    <a:lumMod val="76000"/>
                  </a:schemeClr>
                </a:solidFill>
              </a:rPr>
              <a:t>Data Type:</a:t>
            </a:r>
            <a:endParaRPr lang="en-US" sz="1600" b="1">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Numerical and categorical data</a:t>
            </a:r>
            <a:endParaRPr lang="en-US" sz="1400">
              <a:solidFill>
                <a:schemeClr val="bg2">
                  <a:lumMod val="76000"/>
                </a:schemeClr>
              </a:solidFill>
              <a:cs typeface="Open Sans"/>
            </a:endParaRPr>
          </a:p>
          <a:p>
            <a:pPr algn="l"/>
            <a:endParaRPr lang="en-US" dirty="0">
              <a:cs typeface="Open Sans"/>
            </a:endParaRPr>
          </a:p>
        </p:txBody>
      </p:sp>
    </p:spTree>
    <p:extLst>
      <p:ext uri="{BB962C8B-B14F-4D97-AF65-F5344CB8AC3E}">
        <p14:creationId xmlns:p14="http://schemas.microsoft.com/office/powerpoint/2010/main" val="22840717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4D587-C039-6469-3B6D-B60B98C68F55}"/>
            </a:ext>
          </a:extLst>
        </p:cNvPr>
        <p:cNvGrpSpPr/>
        <p:nvPr/>
      </p:nvGrpSpPr>
      <p:grpSpPr>
        <a:xfrm>
          <a:off x="0" y="0"/>
          <a:ext cx="0" cy="0"/>
          <a:chOff x="0" y="0"/>
          <a:chExt cx="0" cy="0"/>
        </a:xfrm>
      </p:grpSpPr>
      <p:pic>
        <p:nvPicPr>
          <p:cNvPr id="98" name="图片 97">
            <a:extLst>
              <a:ext uri="{FF2B5EF4-FFF2-40B4-BE49-F238E27FC236}">
                <a16:creationId xmlns:a16="http://schemas.microsoft.com/office/drawing/2014/main" id="{90FC07ED-0675-D176-043F-14B625E3CB43}"/>
              </a:ext>
            </a:extLst>
          </p:cNvPr>
          <p:cNvPicPr>
            <a:picLocks noChangeAspect="1"/>
          </p:cNvPicPr>
          <p:nvPr/>
        </p:nvPicPr>
        <p:blipFill rotWithShape="1">
          <a:blip r:embed="rId3"/>
          <a:srcRect t="11284" b="11844"/>
          <a:stretch>
            <a:fillRect/>
          </a:stretch>
        </p:blipFill>
        <p:spPr>
          <a:xfrm>
            <a:off x="83442" y="34651"/>
            <a:ext cx="5010912" cy="5143500"/>
          </a:xfrm>
          <a:prstGeom prst="rect">
            <a:avLst/>
          </a:prstGeom>
        </p:spPr>
      </p:pic>
      <p:sp>
        <p:nvSpPr>
          <p:cNvPr id="99" name="矩形 98">
            <a:extLst>
              <a:ext uri="{FF2B5EF4-FFF2-40B4-BE49-F238E27FC236}">
                <a16:creationId xmlns:a16="http://schemas.microsoft.com/office/drawing/2014/main" id="{FC6CEE59-D437-D1E9-DE5F-FD72322256BD}"/>
              </a:ext>
            </a:extLst>
          </p:cNvPr>
          <p:cNvSpPr/>
          <p:nvPr/>
        </p:nvSpPr>
        <p:spPr bwMode="auto">
          <a:xfrm>
            <a:off x="-168979" y="252437"/>
            <a:ext cx="3403600" cy="829945"/>
          </a:xfrm>
          <a:prstGeom prst="rect">
            <a:avLst/>
          </a:prstGeom>
          <a:noFill/>
          <a:ln>
            <a:noFill/>
          </a:ln>
        </p:spPr>
        <p:txBody>
          <a:bodyPr wrap="square" rtlCol="0">
            <a:spAutoFit/>
          </a:bodyPr>
          <a:lstStyle/>
          <a:p>
            <a:pPr algn="ctr" defTabSz="457200"/>
            <a:r>
              <a:rPr lang="zh-CN" altLang="en-US" sz="4800" b="1">
                <a:ln w="38100">
                  <a:noFill/>
                </a:ln>
                <a:gradFill>
                  <a:gsLst>
                    <a:gs pos="0">
                      <a:srgbClr val="FCC490"/>
                    </a:gs>
                    <a:gs pos="100000">
                      <a:srgbClr val="FCC896"/>
                    </a:gs>
                  </a:gsLst>
                  <a:lin ang="0" scaled="1"/>
                </a:gradFill>
                <a:latin typeface="+mj-ea"/>
                <a:ea typeface="+mj-ea"/>
                <a:cs typeface="Philosopher" panose="00000500000000000000" charset="0"/>
                <a:sym typeface="Open Sans" panose="020B0606030504020204" charset="0"/>
              </a:rPr>
              <a:t>CONTENTS</a:t>
            </a:r>
          </a:p>
        </p:txBody>
      </p:sp>
      <p:sp>
        <p:nvSpPr>
          <p:cNvPr id="57" name="文本框 56">
            <a:extLst>
              <a:ext uri="{FF2B5EF4-FFF2-40B4-BE49-F238E27FC236}">
                <a16:creationId xmlns:a16="http://schemas.microsoft.com/office/drawing/2014/main" id="{957B09A9-367A-9D9C-6C70-0212C9DF1FEA}"/>
              </a:ext>
            </a:extLst>
          </p:cNvPr>
          <p:cNvSpPr txBox="1"/>
          <p:nvPr/>
        </p:nvSpPr>
        <p:spPr>
          <a:xfrm>
            <a:off x="-6510" y="3006"/>
            <a:ext cx="765162" cy="306705"/>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r>
              <a:rPr lang="en-US" altLang="zh-CN" sz="1400" spc="0">
                <a:solidFill>
                  <a:schemeClr val="tx1">
                    <a:lumMod val="65000"/>
                    <a:lumOff val="35000"/>
                  </a:schemeClr>
                </a:solidFill>
                <a:effectLst/>
                <a:cs typeface="Philosopher" panose="00000500000000000000" charset="0"/>
                <a:sym typeface="Open Sans" panose="020B0606030504020204" charset="0"/>
              </a:rPr>
              <a:t>VR</a:t>
            </a:r>
          </a:p>
        </p:txBody>
      </p:sp>
      <p:sp>
        <p:nvSpPr>
          <p:cNvPr id="7" name="TextBox 6">
            <a:extLst>
              <a:ext uri="{FF2B5EF4-FFF2-40B4-BE49-F238E27FC236}">
                <a16:creationId xmlns:a16="http://schemas.microsoft.com/office/drawing/2014/main" id="{76409B62-F65D-CB65-A8D3-218CBA2C3F28}"/>
              </a:ext>
            </a:extLst>
          </p:cNvPr>
          <p:cNvSpPr txBox="1"/>
          <p:nvPr/>
        </p:nvSpPr>
        <p:spPr>
          <a:xfrm>
            <a:off x="86918" y="1495027"/>
            <a:ext cx="25640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02. Project Objectives</a:t>
            </a:r>
            <a:endParaRPr lang="en-US" dirty="0">
              <a:solidFill>
                <a:srgbClr val="FCC490"/>
              </a:solidFill>
              <a:latin typeface="Philosopher"/>
            </a:endParaRPr>
          </a:p>
          <a:p>
            <a:pPr algn="ctr"/>
            <a:endParaRPr lang="en-US"/>
          </a:p>
        </p:txBody>
      </p:sp>
      <p:sp>
        <p:nvSpPr>
          <p:cNvPr id="9" name="TextBox 8">
            <a:extLst>
              <a:ext uri="{FF2B5EF4-FFF2-40B4-BE49-F238E27FC236}">
                <a16:creationId xmlns:a16="http://schemas.microsoft.com/office/drawing/2014/main" id="{06A9A97F-23E0-6109-1EEB-2344F2D046CE}"/>
              </a:ext>
            </a:extLst>
          </p:cNvPr>
          <p:cNvSpPr txBox="1"/>
          <p:nvPr/>
        </p:nvSpPr>
        <p:spPr>
          <a:xfrm>
            <a:off x="86918" y="192484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03. Dataset Description</a:t>
            </a:r>
            <a:endParaRPr lang="en-US" dirty="0">
              <a:solidFill>
                <a:srgbClr val="FCC490"/>
              </a:solidFill>
              <a:latin typeface="Philosopher"/>
            </a:endParaRPr>
          </a:p>
          <a:p>
            <a:pPr algn="ctr"/>
            <a:endParaRPr lang="en-US"/>
          </a:p>
        </p:txBody>
      </p:sp>
      <p:sp>
        <p:nvSpPr>
          <p:cNvPr id="10" name="TextBox 9">
            <a:extLst>
              <a:ext uri="{FF2B5EF4-FFF2-40B4-BE49-F238E27FC236}">
                <a16:creationId xmlns:a16="http://schemas.microsoft.com/office/drawing/2014/main" id="{5479ADDD-D150-7996-1E47-D5461C597A4D}"/>
              </a:ext>
            </a:extLst>
          </p:cNvPr>
          <p:cNvSpPr txBox="1"/>
          <p:nvPr/>
        </p:nvSpPr>
        <p:spPr>
          <a:xfrm>
            <a:off x="86918" y="2388786"/>
            <a:ext cx="4572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FCC490"/>
                </a:solidFill>
                <a:latin typeface="Philosopher"/>
              </a:rPr>
              <a:t>04. Data Processing</a:t>
            </a:r>
            <a:endParaRPr lang="en-US" sz="2400" dirty="0">
              <a:solidFill>
                <a:srgbClr val="FCC490"/>
              </a:solidFill>
              <a:latin typeface="Philosopher"/>
            </a:endParaRPr>
          </a:p>
          <a:p>
            <a:pPr algn="ctr"/>
            <a:endParaRPr lang="en-US"/>
          </a:p>
        </p:txBody>
      </p:sp>
      <p:sp>
        <p:nvSpPr>
          <p:cNvPr id="11" name="TextBox 10">
            <a:extLst>
              <a:ext uri="{FF2B5EF4-FFF2-40B4-BE49-F238E27FC236}">
                <a16:creationId xmlns:a16="http://schemas.microsoft.com/office/drawing/2014/main" id="{A161C4BC-DC36-19E7-8ADA-E95FD64A4F29}"/>
              </a:ext>
            </a:extLst>
          </p:cNvPr>
          <p:cNvSpPr txBox="1"/>
          <p:nvPr/>
        </p:nvSpPr>
        <p:spPr>
          <a:xfrm>
            <a:off x="86918" y="2818885"/>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05. Machine Learning Model</a:t>
            </a:r>
            <a:endParaRPr lang="en-US" dirty="0">
              <a:solidFill>
                <a:srgbClr val="FCC490"/>
              </a:solidFill>
              <a:latin typeface="Philosopher"/>
            </a:endParaRPr>
          </a:p>
          <a:p>
            <a:pPr algn="ctr"/>
            <a:endParaRPr lang="en-US"/>
          </a:p>
        </p:txBody>
      </p:sp>
      <p:sp>
        <p:nvSpPr>
          <p:cNvPr id="12" name="TextBox 11">
            <a:extLst>
              <a:ext uri="{FF2B5EF4-FFF2-40B4-BE49-F238E27FC236}">
                <a16:creationId xmlns:a16="http://schemas.microsoft.com/office/drawing/2014/main" id="{DD4BFFA2-3B88-86BD-CEB4-174D3F6097C0}"/>
              </a:ext>
            </a:extLst>
          </p:cNvPr>
          <p:cNvSpPr txBox="1"/>
          <p:nvPr/>
        </p:nvSpPr>
        <p:spPr>
          <a:xfrm>
            <a:off x="86918" y="3243649"/>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06. Model </a:t>
            </a:r>
            <a:r>
              <a:rPr lang="en-US" dirty="0" err="1">
                <a:solidFill>
                  <a:srgbClr val="FCC490"/>
                </a:solidFill>
                <a:latin typeface="Philosopher"/>
              </a:rPr>
              <a:t>Evaluat</a:t>
            </a:r>
            <a:r>
              <a:rPr lang="en-US" dirty="0">
                <a:solidFill>
                  <a:srgbClr val="FCC490"/>
                </a:solidFill>
                <a:latin typeface="Philosopher"/>
              </a:rPr>
              <a:t>ion</a:t>
            </a:r>
          </a:p>
          <a:p>
            <a:pPr algn="ctr"/>
            <a:endParaRPr lang="en-US"/>
          </a:p>
        </p:txBody>
      </p:sp>
      <p:sp>
        <p:nvSpPr>
          <p:cNvPr id="13" name="TextBox 12">
            <a:extLst>
              <a:ext uri="{FF2B5EF4-FFF2-40B4-BE49-F238E27FC236}">
                <a16:creationId xmlns:a16="http://schemas.microsoft.com/office/drawing/2014/main" id="{F6AF6BC4-87A9-13A6-106A-A2A7A29A62F9}"/>
              </a:ext>
            </a:extLst>
          </p:cNvPr>
          <p:cNvSpPr txBox="1"/>
          <p:nvPr/>
        </p:nvSpPr>
        <p:spPr>
          <a:xfrm>
            <a:off x="86918" y="3678803"/>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07. Key Findings</a:t>
            </a:r>
            <a:endParaRPr lang="en-US" dirty="0">
              <a:solidFill>
                <a:srgbClr val="FCC490"/>
              </a:solidFill>
              <a:latin typeface="Philosopher"/>
            </a:endParaRPr>
          </a:p>
          <a:p>
            <a:pPr algn="ctr"/>
            <a:endParaRPr lang="en-US"/>
          </a:p>
        </p:txBody>
      </p:sp>
      <p:sp>
        <p:nvSpPr>
          <p:cNvPr id="14" name="TextBox 13">
            <a:extLst>
              <a:ext uri="{FF2B5EF4-FFF2-40B4-BE49-F238E27FC236}">
                <a16:creationId xmlns:a16="http://schemas.microsoft.com/office/drawing/2014/main" id="{C825A74B-6BB6-20F0-3BFC-35EF2492A069}"/>
              </a:ext>
            </a:extLst>
          </p:cNvPr>
          <p:cNvSpPr txBox="1"/>
          <p:nvPr/>
        </p:nvSpPr>
        <p:spPr>
          <a:xfrm>
            <a:off x="86918" y="1083042"/>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01. Introduction &amp; Problem Statement</a:t>
            </a:r>
            <a:endParaRPr lang="en-US" dirty="0">
              <a:solidFill>
                <a:srgbClr val="FCC490"/>
              </a:solidFill>
              <a:latin typeface="Philosopher"/>
            </a:endParaRPr>
          </a:p>
          <a:p>
            <a:pPr algn="ctr"/>
            <a:endParaRPr lang="en-US"/>
          </a:p>
        </p:txBody>
      </p:sp>
      <p:sp>
        <p:nvSpPr>
          <p:cNvPr id="17" name="TextBox 16">
            <a:extLst>
              <a:ext uri="{FF2B5EF4-FFF2-40B4-BE49-F238E27FC236}">
                <a16:creationId xmlns:a16="http://schemas.microsoft.com/office/drawing/2014/main" id="{D16AEBDD-74B0-1DCD-C3E7-85B2A7975576}"/>
              </a:ext>
            </a:extLst>
          </p:cNvPr>
          <p:cNvSpPr txBox="1"/>
          <p:nvPr/>
        </p:nvSpPr>
        <p:spPr>
          <a:xfrm>
            <a:off x="83127" y="3860222"/>
            <a:ext cx="4572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rgbClr val="FCC490"/>
              </a:solidFill>
              <a:latin typeface="Philosopher"/>
            </a:endParaRPr>
          </a:p>
          <a:p>
            <a:r>
              <a:rPr lang="en-US">
                <a:solidFill>
                  <a:srgbClr val="FCC490"/>
                </a:solidFill>
                <a:latin typeface="Philosopher"/>
              </a:rPr>
              <a:t>08. Challenges</a:t>
            </a:r>
            <a:r>
              <a:rPr lang="en-US" dirty="0">
                <a:solidFill>
                  <a:srgbClr val="FCC490"/>
                </a:solidFill>
                <a:latin typeface="Philosopher"/>
              </a:rPr>
              <a:t> Encountered</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a:cs typeface="Open Sans"/>
            </a:endParaRPr>
          </a:p>
          <a:p>
            <a:pPr algn="ctr"/>
            <a:endParaRPr lang="en-US"/>
          </a:p>
        </p:txBody>
      </p:sp>
      <p:sp>
        <p:nvSpPr>
          <p:cNvPr id="18" name="TextBox 17">
            <a:extLst>
              <a:ext uri="{FF2B5EF4-FFF2-40B4-BE49-F238E27FC236}">
                <a16:creationId xmlns:a16="http://schemas.microsoft.com/office/drawing/2014/main" id="{FFB27C7F-6204-DEDF-A763-A97EA5D5971C}"/>
              </a:ext>
            </a:extLst>
          </p:cNvPr>
          <p:cNvSpPr txBox="1"/>
          <p:nvPr/>
        </p:nvSpPr>
        <p:spPr>
          <a:xfrm>
            <a:off x="83126" y="4494068"/>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09. Conclusion &amp; Recommendati</a:t>
            </a:r>
            <a:r>
              <a:rPr lang="en-US" dirty="0">
                <a:solidFill>
                  <a:srgbClr val="FCC490"/>
                </a:solidFill>
                <a:latin typeface="Philosopher"/>
              </a:rPr>
              <a:t>ons</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dirty="0"/>
          </a:p>
          <a:p>
            <a:pPr algn="ctr"/>
            <a:endParaRPr lang="en-US"/>
          </a:p>
        </p:txBody>
      </p:sp>
      <p:sp>
        <p:nvSpPr>
          <p:cNvPr id="2" name="TextBox 1">
            <a:extLst>
              <a:ext uri="{FF2B5EF4-FFF2-40B4-BE49-F238E27FC236}">
                <a16:creationId xmlns:a16="http://schemas.microsoft.com/office/drawing/2014/main" id="{B73B9570-F906-C4F9-511F-F4A92CAE2439}"/>
              </a:ext>
            </a:extLst>
          </p:cNvPr>
          <p:cNvSpPr txBox="1"/>
          <p:nvPr/>
        </p:nvSpPr>
        <p:spPr>
          <a:xfrm>
            <a:off x="4180282" y="666003"/>
            <a:ext cx="482509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2">
                    <a:lumMod val="76000"/>
                  </a:schemeClr>
                </a:solidFill>
                <a:ea typeface="+mn-lt"/>
                <a:cs typeface="+mn-lt"/>
              </a:rPr>
              <a:t>Before training the machine learning models, the dataset had to be</a:t>
            </a:r>
            <a:r>
              <a:rPr lang="en-US" sz="1600" b="1">
                <a:solidFill>
                  <a:schemeClr val="bg2">
                    <a:lumMod val="76000"/>
                  </a:schemeClr>
                </a:solidFill>
                <a:ea typeface="+mn-lt"/>
                <a:cs typeface="+mn-lt"/>
              </a:rPr>
              <a:t> prepared</a:t>
            </a:r>
            <a:r>
              <a:rPr lang="en-US" sz="1600">
                <a:solidFill>
                  <a:schemeClr val="bg2">
                    <a:lumMod val="76000"/>
                  </a:schemeClr>
                </a:solidFill>
                <a:ea typeface="+mn-lt"/>
                <a:cs typeface="+mn-lt"/>
              </a:rPr>
              <a:t> and </a:t>
            </a:r>
            <a:r>
              <a:rPr lang="en-US" sz="1600" b="1">
                <a:solidFill>
                  <a:schemeClr val="bg2">
                    <a:lumMod val="76000"/>
                  </a:schemeClr>
                </a:solidFill>
                <a:ea typeface="+mn-lt"/>
                <a:cs typeface="+mn-lt"/>
              </a:rPr>
              <a:t>transformed</a:t>
            </a:r>
            <a:r>
              <a:rPr lang="en-US" sz="1600">
                <a:solidFill>
                  <a:schemeClr val="bg2">
                    <a:lumMod val="76000"/>
                  </a:schemeClr>
                </a:solidFill>
                <a:ea typeface="+mn-lt"/>
                <a:cs typeface="+mn-lt"/>
              </a:rPr>
              <a:t> into a suitable format for analysis and prediction.</a:t>
            </a:r>
            <a:endParaRPr lang="en-US" sz="1600">
              <a:solidFill>
                <a:schemeClr val="bg2">
                  <a:lumMod val="76000"/>
                </a:schemeClr>
              </a:solidFill>
            </a:endParaRPr>
          </a:p>
        </p:txBody>
      </p:sp>
      <p:sp>
        <p:nvSpPr>
          <p:cNvPr id="3" name="TextBox 2">
            <a:extLst>
              <a:ext uri="{FF2B5EF4-FFF2-40B4-BE49-F238E27FC236}">
                <a16:creationId xmlns:a16="http://schemas.microsoft.com/office/drawing/2014/main" id="{FA7D268C-F835-D8FF-1143-3ED8B0D60654}"/>
              </a:ext>
            </a:extLst>
          </p:cNvPr>
          <p:cNvSpPr txBox="1"/>
          <p:nvPr/>
        </p:nvSpPr>
        <p:spPr>
          <a:xfrm>
            <a:off x="4180311" y="1513433"/>
            <a:ext cx="4825091" cy="23391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bg2">
                    <a:lumMod val="76000"/>
                  </a:schemeClr>
                </a:solidFill>
              </a:rPr>
              <a:t>Steps Performed:</a:t>
            </a:r>
            <a:endParaRPr lang="en-US" sz="1600" b="1">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Removed unnecessary ID columns </a:t>
            </a:r>
            <a:endParaRPr lang="en-US" sz="160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Removed date columns </a:t>
            </a:r>
            <a:endParaRPr lang="en-US" sz="160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Checked for missing values </a:t>
            </a:r>
            <a:endParaRPr lang="en-US" sz="160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Encoded categorical variables using one-hot encoding </a:t>
            </a:r>
            <a:endParaRPr lang="en-US" sz="160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Split the dataset into training and testing sets </a:t>
            </a:r>
            <a:endParaRPr lang="en-US" sz="160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Applied feature scaling for Logistic Regression</a:t>
            </a:r>
            <a:endParaRPr lang="en-US" sz="1600">
              <a:solidFill>
                <a:schemeClr val="bg2">
                  <a:lumMod val="76000"/>
                </a:schemeClr>
              </a:solidFill>
            </a:endParaRPr>
          </a:p>
          <a:p>
            <a:pPr algn="l"/>
            <a:endParaRPr lang="en-US" dirty="0">
              <a:cs typeface="Open Sans"/>
            </a:endParaRPr>
          </a:p>
        </p:txBody>
      </p:sp>
      <p:sp>
        <p:nvSpPr>
          <p:cNvPr id="4" name="TextBox 3">
            <a:extLst>
              <a:ext uri="{FF2B5EF4-FFF2-40B4-BE49-F238E27FC236}">
                <a16:creationId xmlns:a16="http://schemas.microsoft.com/office/drawing/2014/main" id="{44072503-9403-1205-0A25-C71BE615CF8A}"/>
              </a:ext>
            </a:extLst>
          </p:cNvPr>
          <p:cNvSpPr txBox="1"/>
          <p:nvPr/>
        </p:nvSpPr>
        <p:spPr>
          <a:xfrm>
            <a:off x="4175187" y="3682689"/>
            <a:ext cx="478427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bg2">
                    <a:lumMod val="76000"/>
                  </a:schemeClr>
                </a:solidFill>
              </a:rPr>
              <a:t>Why Preprocessing Was Important:</a:t>
            </a:r>
            <a:endParaRPr lang="en-US" sz="1600" b="1">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Machine learning models require clean numerical data </a:t>
            </a:r>
            <a:endParaRPr lang="en-US" sz="160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Preprocessing improves model performance and accuracy</a:t>
            </a:r>
            <a:endParaRPr lang="en-US" sz="1600">
              <a:solidFill>
                <a:schemeClr val="bg2">
                  <a:lumMod val="76000"/>
                </a:schemeClr>
              </a:solidFill>
            </a:endParaRPr>
          </a:p>
          <a:p>
            <a:pPr algn="l"/>
            <a:endParaRPr lang="en-US" dirty="0">
              <a:cs typeface="Open Sans"/>
            </a:endParaRPr>
          </a:p>
        </p:txBody>
      </p:sp>
    </p:spTree>
    <p:extLst>
      <p:ext uri="{BB962C8B-B14F-4D97-AF65-F5344CB8AC3E}">
        <p14:creationId xmlns:p14="http://schemas.microsoft.com/office/powerpoint/2010/main" val="18109614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p:tgtEl>
                                          <p:spTgt spid="4"/>
                                        </p:tgtEl>
                                        <p:attrNameLst>
                                          <p:attrName>ppt_y</p:attrName>
                                        </p:attrNameLst>
                                      </p:cBhvr>
                                      <p:tavLst>
                                        <p:tav tm="0">
                                          <p:val>
                                            <p:strVal val="#ppt_y+#ppt_h*1.125000"/>
                                          </p:val>
                                        </p:tav>
                                        <p:tav tm="100000">
                                          <p:val>
                                            <p:strVal val="#ppt_y"/>
                                          </p:val>
                                        </p:tav>
                                      </p:tavLst>
                                    </p:anim>
                                    <p:animEffect transition="in" filter="wipe(up)">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3"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3150F-ED37-6233-D323-BB7260BA9FF2}"/>
            </a:ext>
          </a:extLst>
        </p:cNvPr>
        <p:cNvGrpSpPr/>
        <p:nvPr/>
      </p:nvGrpSpPr>
      <p:grpSpPr>
        <a:xfrm>
          <a:off x="0" y="0"/>
          <a:ext cx="0" cy="0"/>
          <a:chOff x="0" y="0"/>
          <a:chExt cx="0" cy="0"/>
        </a:xfrm>
      </p:grpSpPr>
      <p:pic>
        <p:nvPicPr>
          <p:cNvPr id="98" name="图片 97">
            <a:extLst>
              <a:ext uri="{FF2B5EF4-FFF2-40B4-BE49-F238E27FC236}">
                <a16:creationId xmlns:a16="http://schemas.microsoft.com/office/drawing/2014/main" id="{7BC5E3F4-900F-B15F-9434-1C26311693A9}"/>
              </a:ext>
            </a:extLst>
          </p:cNvPr>
          <p:cNvPicPr>
            <a:picLocks noChangeAspect="1"/>
          </p:cNvPicPr>
          <p:nvPr/>
        </p:nvPicPr>
        <p:blipFill rotWithShape="1">
          <a:blip r:embed="rId3"/>
          <a:srcRect t="11284" b="11844"/>
          <a:stretch>
            <a:fillRect/>
          </a:stretch>
        </p:blipFill>
        <p:spPr>
          <a:xfrm>
            <a:off x="83442" y="34651"/>
            <a:ext cx="5010912" cy="5143500"/>
          </a:xfrm>
          <a:prstGeom prst="rect">
            <a:avLst/>
          </a:prstGeom>
        </p:spPr>
      </p:pic>
      <p:sp>
        <p:nvSpPr>
          <p:cNvPr id="99" name="矩形 98">
            <a:extLst>
              <a:ext uri="{FF2B5EF4-FFF2-40B4-BE49-F238E27FC236}">
                <a16:creationId xmlns:a16="http://schemas.microsoft.com/office/drawing/2014/main" id="{72A168CA-DC65-0C49-6701-13C21871C7F1}"/>
              </a:ext>
            </a:extLst>
          </p:cNvPr>
          <p:cNvSpPr/>
          <p:nvPr/>
        </p:nvSpPr>
        <p:spPr bwMode="auto">
          <a:xfrm>
            <a:off x="-168979" y="252437"/>
            <a:ext cx="3403600" cy="829945"/>
          </a:xfrm>
          <a:prstGeom prst="rect">
            <a:avLst/>
          </a:prstGeom>
          <a:noFill/>
          <a:ln>
            <a:noFill/>
          </a:ln>
        </p:spPr>
        <p:txBody>
          <a:bodyPr wrap="square" rtlCol="0">
            <a:spAutoFit/>
          </a:bodyPr>
          <a:lstStyle/>
          <a:p>
            <a:pPr algn="ctr" defTabSz="457200"/>
            <a:r>
              <a:rPr lang="zh-CN" altLang="en-US" sz="4800" b="1">
                <a:ln w="38100">
                  <a:noFill/>
                </a:ln>
                <a:gradFill>
                  <a:gsLst>
                    <a:gs pos="0">
                      <a:srgbClr val="FCC490"/>
                    </a:gs>
                    <a:gs pos="100000">
                      <a:srgbClr val="FCC896"/>
                    </a:gs>
                  </a:gsLst>
                  <a:lin ang="0" scaled="1"/>
                </a:gradFill>
                <a:latin typeface="+mj-ea"/>
                <a:ea typeface="+mj-ea"/>
                <a:cs typeface="Philosopher" panose="00000500000000000000" charset="0"/>
                <a:sym typeface="Open Sans" panose="020B0606030504020204" charset="0"/>
              </a:rPr>
              <a:t>CONTENTS</a:t>
            </a:r>
          </a:p>
        </p:txBody>
      </p:sp>
      <p:sp>
        <p:nvSpPr>
          <p:cNvPr id="57" name="文本框 56">
            <a:extLst>
              <a:ext uri="{FF2B5EF4-FFF2-40B4-BE49-F238E27FC236}">
                <a16:creationId xmlns:a16="http://schemas.microsoft.com/office/drawing/2014/main" id="{65DB5D57-FD85-929E-752F-0295085E0A72}"/>
              </a:ext>
            </a:extLst>
          </p:cNvPr>
          <p:cNvSpPr txBox="1"/>
          <p:nvPr/>
        </p:nvSpPr>
        <p:spPr>
          <a:xfrm>
            <a:off x="-6510" y="3006"/>
            <a:ext cx="765162" cy="306705"/>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r>
              <a:rPr lang="en-US" altLang="zh-CN" sz="1400" spc="0">
                <a:solidFill>
                  <a:schemeClr val="tx1">
                    <a:lumMod val="65000"/>
                    <a:lumOff val="35000"/>
                  </a:schemeClr>
                </a:solidFill>
                <a:effectLst/>
                <a:cs typeface="Philosopher" panose="00000500000000000000" charset="0"/>
                <a:sym typeface="Open Sans" panose="020B0606030504020204" charset="0"/>
              </a:rPr>
              <a:t>VR</a:t>
            </a:r>
          </a:p>
        </p:txBody>
      </p:sp>
      <p:sp>
        <p:nvSpPr>
          <p:cNvPr id="7" name="TextBox 6">
            <a:extLst>
              <a:ext uri="{FF2B5EF4-FFF2-40B4-BE49-F238E27FC236}">
                <a16:creationId xmlns:a16="http://schemas.microsoft.com/office/drawing/2014/main" id="{79FAC0FB-9AB0-A31D-CE14-7A2A34BEA25C}"/>
              </a:ext>
            </a:extLst>
          </p:cNvPr>
          <p:cNvSpPr txBox="1"/>
          <p:nvPr/>
        </p:nvSpPr>
        <p:spPr>
          <a:xfrm>
            <a:off x="86918" y="1495027"/>
            <a:ext cx="25640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02. Project Objectives</a:t>
            </a:r>
            <a:endParaRPr lang="en-US" dirty="0">
              <a:solidFill>
                <a:srgbClr val="FCC490"/>
              </a:solidFill>
              <a:latin typeface="Philosopher"/>
            </a:endParaRPr>
          </a:p>
          <a:p>
            <a:pPr algn="ctr"/>
            <a:endParaRPr lang="en-US"/>
          </a:p>
        </p:txBody>
      </p:sp>
      <p:sp>
        <p:nvSpPr>
          <p:cNvPr id="9" name="TextBox 8">
            <a:extLst>
              <a:ext uri="{FF2B5EF4-FFF2-40B4-BE49-F238E27FC236}">
                <a16:creationId xmlns:a16="http://schemas.microsoft.com/office/drawing/2014/main" id="{335DE8F1-C73A-3E84-7E4A-FC0AC4C1FFFB}"/>
              </a:ext>
            </a:extLst>
          </p:cNvPr>
          <p:cNvSpPr txBox="1"/>
          <p:nvPr/>
        </p:nvSpPr>
        <p:spPr>
          <a:xfrm>
            <a:off x="86918" y="192484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03. Dataset Description</a:t>
            </a:r>
            <a:endParaRPr lang="en-US" dirty="0">
              <a:solidFill>
                <a:srgbClr val="FCC490"/>
              </a:solidFill>
              <a:latin typeface="Philosopher"/>
            </a:endParaRPr>
          </a:p>
          <a:p>
            <a:pPr algn="ctr"/>
            <a:endParaRPr lang="en-US"/>
          </a:p>
        </p:txBody>
      </p:sp>
      <p:sp>
        <p:nvSpPr>
          <p:cNvPr id="10" name="TextBox 9">
            <a:extLst>
              <a:ext uri="{FF2B5EF4-FFF2-40B4-BE49-F238E27FC236}">
                <a16:creationId xmlns:a16="http://schemas.microsoft.com/office/drawing/2014/main" id="{D39F5716-C8BA-A78C-6901-78803FAAF1F2}"/>
              </a:ext>
            </a:extLst>
          </p:cNvPr>
          <p:cNvSpPr txBox="1"/>
          <p:nvPr/>
        </p:nvSpPr>
        <p:spPr>
          <a:xfrm>
            <a:off x="86918" y="238878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04. Data Processing</a:t>
            </a:r>
            <a:endParaRPr lang="en-US" dirty="0">
              <a:solidFill>
                <a:srgbClr val="FCC490"/>
              </a:solidFill>
              <a:latin typeface="Philosopher"/>
            </a:endParaRPr>
          </a:p>
          <a:p>
            <a:pPr algn="ctr"/>
            <a:endParaRPr lang="en-US"/>
          </a:p>
        </p:txBody>
      </p:sp>
      <p:sp>
        <p:nvSpPr>
          <p:cNvPr id="11" name="TextBox 10">
            <a:extLst>
              <a:ext uri="{FF2B5EF4-FFF2-40B4-BE49-F238E27FC236}">
                <a16:creationId xmlns:a16="http://schemas.microsoft.com/office/drawing/2014/main" id="{824F3D66-1B88-7BA3-09CC-C0D63599489B}"/>
              </a:ext>
            </a:extLst>
          </p:cNvPr>
          <p:cNvSpPr txBox="1"/>
          <p:nvPr/>
        </p:nvSpPr>
        <p:spPr>
          <a:xfrm>
            <a:off x="86918" y="2818885"/>
            <a:ext cx="4572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FCC490"/>
                </a:solidFill>
                <a:latin typeface="Philosopher"/>
              </a:rPr>
              <a:t>05. Machine Learning Model</a:t>
            </a:r>
            <a:endParaRPr lang="en-US" sz="2400" dirty="0">
              <a:solidFill>
                <a:srgbClr val="FCC490"/>
              </a:solidFill>
              <a:latin typeface="Philosopher"/>
            </a:endParaRPr>
          </a:p>
          <a:p>
            <a:pPr algn="ctr"/>
            <a:endParaRPr lang="en-US"/>
          </a:p>
        </p:txBody>
      </p:sp>
      <p:sp>
        <p:nvSpPr>
          <p:cNvPr id="12" name="TextBox 11">
            <a:extLst>
              <a:ext uri="{FF2B5EF4-FFF2-40B4-BE49-F238E27FC236}">
                <a16:creationId xmlns:a16="http://schemas.microsoft.com/office/drawing/2014/main" id="{A94B4563-9F75-CA6C-BC98-3C1A007ABBD2}"/>
              </a:ext>
            </a:extLst>
          </p:cNvPr>
          <p:cNvSpPr txBox="1"/>
          <p:nvPr/>
        </p:nvSpPr>
        <p:spPr>
          <a:xfrm>
            <a:off x="86918" y="3243649"/>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06. Model </a:t>
            </a:r>
            <a:r>
              <a:rPr lang="en-US" dirty="0" err="1">
                <a:solidFill>
                  <a:srgbClr val="FCC490"/>
                </a:solidFill>
                <a:latin typeface="Philosopher"/>
              </a:rPr>
              <a:t>Evaluat</a:t>
            </a:r>
            <a:r>
              <a:rPr lang="en-US" dirty="0">
                <a:solidFill>
                  <a:srgbClr val="FCC490"/>
                </a:solidFill>
                <a:latin typeface="Philosopher"/>
              </a:rPr>
              <a:t>ion</a:t>
            </a:r>
          </a:p>
          <a:p>
            <a:pPr algn="ctr"/>
            <a:endParaRPr lang="en-US"/>
          </a:p>
        </p:txBody>
      </p:sp>
      <p:sp>
        <p:nvSpPr>
          <p:cNvPr id="13" name="TextBox 12">
            <a:extLst>
              <a:ext uri="{FF2B5EF4-FFF2-40B4-BE49-F238E27FC236}">
                <a16:creationId xmlns:a16="http://schemas.microsoft.com/office/drawing/2014/main" id="{F4135210-C44F-ACC5-3626-7CB124671D10}"/>
              </a:ext>
            </a:extLst>
          </p:cNvPr>
          <p:cNvSpPr txBox="1"/>
          <p:nvPr/>
        </p:nvSpPr>
        <p:spPr>
          <a:xfrm>
            <a:off x="86918" y="3678803"/>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07. Key Findings</a:t>
            </a:r>
            <a:endParaRPr lang="en-US" dirty="0">
              <a:solidFill>
                <a:srgbClr val="FCC490"/>
              </a:solidFill>
              <a:latin typeface="Philosopher"/>
            </a:endParaRPr>
          </a:p>
          <a:p>
            <a:pPr algn="ctr"/>
            <a:endParaRPr lang="en-US"/>
          </a:p>
        </p:txBody>
      </p:sp>
      <p:sp>
        <p:nvSpPr>
          <p:cNvPr id="14" name="TextBox 13">
            <a:extLst>
              <a:ext uri="{FF2B5EF4-FFF2-40B4-BE49-F238E27FC236}">
                <a16:creationId xmlns:a16="http://schemas.microsoft.com/office/drawing/2014/main" id="{03936133-EE8A-2C34-215D-4C08B825D86E}"/>
              </a:ext>
            </a:extLst>
          </p:cNvPr>
          <p:cNvSpPr txBox="1"/>
          <p:nvPr/>
        </p:nvSpPr>
        <p:spPr>
          <a:xfrm>
            <a:off x="86918" y="1083042"/>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01. Introduction &amp; Problem Statement</a:t>
            </a:r>
            <a:endParaRPr lang="en-US" dirty="0">
              <a:solidFill>
                <a:srgbClr val="FCC490"/>
              </a:solidFill>
              <a:latin typeface="Philosopher"/>
            </a:endParaRPr>
          </a:p>
          <a:p>
            <a:pPr algn="ctr"/>
            <a:endParaRPr lang="en-US"/>
          </a:p>
        </p:txBody>
      </p:sp>
      <p:sp>
        <p:nvSpPr>
          <p:cNvPr id="17" name="TextBox 16">
            <a:extLst>
              <a:ext uri="{FF2B5EF4-FFF2-40B4-BE49-F238E27FC236}">
                <a16:creationId xmlns:a16="http://schemas.microsoft.com/office/drawing/2014/main" id="{B039137E-4B25-F37A-F3C3-24C74B93D4D0}"/>
              </a:ext>
            </a:extLst>
          </p:cNvPr>
          <p:cNvSpPr txBox="1"/>
          <p:nvPr/>
        </p:nvSpPr>
        <p:spPr>
          <a:xfrm>
            <a:off x="83127" y="3860222"/>
            <a:ext cx="4572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rgbClr val="FCC490"/>
              </a:solidFill>
              <a:latin typeface="Philosopher"/>
            </a:endParaRPr>
          </a:p>
          <a:p>
            <a:r>
              <a:rPr lang="en-US">
                <a:solidFill>
                  <a:srgbClr val="FCC490"/>
                </a:solidFill>
                <a:latin typeface="Philosopher"/>
              </a:rPr>
              <a:t>08. Challenges</a:t>
            </a:r>
            <a:r>
              <a:rPr lang="en-US" dirty="0">
                <a:solidFill>
                  <a:srgbClr val="FCC490"/>
                </a:solidFill>
                <a:latin typeface="Philosopher"/>
              </a:rPr>
              <a:t> Encountered</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a:cs typeface="Open Sans"/>
            </a:endParaRPr>
          </a:p>
          <a:p>
            <a:pPr algn="ctr"/>
            <a:endParaRPr lang="en-US"/>
          </a:p>
        </p:txBody>
      </p:sp>
      <p:sp>
        <p:nvSpPr>
          <p:cNvPr id="18" name="TextBox 17">
            <a:extLst>
              <a:ext uri="{FF2B5EF4-FFF2-40B4-BE49-F238E27FC236}">
                <a16:creationId xmlns:a16="http://schemas.microsoft.com/office/drawing/2014/main" id="{E329FFA1-1832-B7BF-62DC-4954E5C4854E}"/>
              </a:ext>
            </a:extLst>
          </p:cNvPr>
          <p:cNvSpPr txBox="1"/>
          <p:nvPr/>
        </p:nvSpPr>
        <p:spPr>
          <a:xfrm>
            <a:off x="83126" y="4494068"/>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09. Conclusion &amp; Recommendati</a:t>
            </a:r>
            <a:r>
              <a:rPr lang="en-US" dirty="0">
                <a:solidFill>
                  <a:srgbClr val="FCC490"/>
                </a:solidFill>
                <a:latin typeface="Philosopher"/>
              </a:rPr>
              <a:t>ons</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dirty="0"/>
          </a:p>
          <a:p>
            <a:pPr algn="ctr"/>
            <a:endParaRPr lang="en-US"/>
          </a:p>
        </p:txBody>
      </p:sp>
      <p:sp>
        <p:nvSpPr>
          <p:cNvPr id="2" name="TextBox 1">
            <a:extLst>
              <a:ext uri="{FF2B5EF4-FFF2-40B4-BE49-F238E27FC236}">
                <a16:creationId xmlns:a16="http://schemas.microsoft.com/office/drawing/2014/main" id="{4D3B4578-4740-6077-354C-C4166789D082}"/>
              </a:ext>
            </a:extLst>
          </p:cNvPr>
          <p:cNvSpPr txBox="1"/>
          <p:nvPr/>
        </p:nvSpPr>
        <p:spPr>
          <a:xfrm>
            <a:off x="4126771" y="451747"/>
            <a:ext cx="494755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2">
                    <a:lumMod val="76000"/>
                  </a:schemeClr>
                </a:solidFill>
                <a:ea typeface="+mn-lt"/>
                <a:cs typeface="+mn-lt"/>
              </a:rPr>
              <a:t>Two machine learning classification models were used in this project to </a:t>
            </a:r>
            <a:r>
              <a:rPr lang="en-US" sz="1600" b="1">
                <a:solidFill>
                  <a:schemeClr val="bg2">
                    <a:lumMod val="76000"/>
                  </a:schemeClr>
                </a:solidFill>
                <a:ea typeface="+mn-lt"/>
                <a:cs typeface="+mn-lt"/>
              </a:rPr>
              <a:t>predict</a:t>
            </a:r>
            <a:r>
              <a:rPr lang="en-US" sz="1600">
                <a:solidFill>
                  <a:schemeClr val="bg2">
                    <a:lumMod val="76000"/>
                  </a:schemeClr>
                </a:solidFill>
                <a:ea typeface="+mn-lt"/>
                <a:cs typeface="+mn-lt"/>
              </a:rPr>
              <a:t> whether a borrower was likely to default on a loan.</a:t>
            </a:r>
            <a:endParaRPr lang="en-US" sz="1600">
              <a:solidFill>
                <a:schemeClr val="bg2">
                  <a:lumMod val="76000"/>
                </a:schemeClr>
              </a:solidFill>
            </a:endParaRPr>
          </a:p>
        </p:txBody>
      </p:sp>
      <p:sp>
        <p:nvSpPr>
          <p:cNvPr id="3" name="TextBox 2">
            <a:extLst>
              <a:ext uri="{FF2B5EF4-FFF2-40B4-BE49-F238E27FC236}">
                <a16:creationId xmlns:a16="http://schemas.microsoft.com/office/drawing/2014/main" id="{CFA6E876-91C4-5AA3-49D6-8949F3BD5235}"/>
              </a:ext>
            </a:extLst>
          </p:cNvPr>
          <p:cNvSpPr txBox="1"/>
          <p:nvPr/>
        </p:nvSpPr>
        <p:spPr>
          <a:xfrm>
            <a:off x="4131752" y="1191927"/>
            <a:ext cx="4957761"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914400" algn="just"/>
            <a:r>
              <a:rPr lang="en-US" sz="1600" b="1">
                <a:solidFill>
                  <a:schemeClr val="bg2">
                    <a:lumMod val="76000"/>
                  </a:schemeClr>
                </a:solidFill>
              </a:rPr>
              <a:t>Models Used:</a:t>
            </a:r>
            <a:endParaRPr lang="en-US" sz="1600" b="1" dirty="0">
              <a:solidFill>
                <a:schemeClr val="bg2">
                  <a:lumMod val="76000"/>
                </a:schemeClr>
              </a:solidFill>
              <a:cs typeface="Open Sans"/>
            </a:endParaRPr>
          </a:p>
          <a:p>
            <a:r>
              <a:rPr lang="en-US" sz="1600" b="1">
                <a:solidFill>
                  <a:schemeClr val="bg2">
                    <a:lumMod val="76000"/>
                  </a:schemeClr>
                </a:solidFill>
              </a:rPr>
              <a:t>Logistic Regression</a:t>
            </a:r>
            <a:endParaRPr lang="en-US" sz="1600" b="1" dirty="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A supervised machine learning algorithm used for binary classification problems. </a:t>
            </a:r>
            <a:endParaRPr lang="en-US" sz="1600" dirty="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Predicts the probability of a borrower defaulting or not defaulting. </a:t>
            </a:r>
            <a:endParaRPr lang="en-US" sz="1600" dirty="0">
              <a:solidFill>
                <a:schemeClr val="bg2">
                  <a:lumMod val="76000"/>
                </a:schemeClr>
              </a:solidFill>
              <a:cs typeface="Open Sans"/>
            </a:endParaRPr>
          </a:p>
          <a:p>
            <a:r>
              <a:rPr lang="en-US" sz="1600" b="1">
                <a:solidFill>
                  <a:schemeClr val="bg2">
                    <a:lumMod val="76000"/>
                  </a:schemeClr>
                </a:solidFill>
              </a:rPr>
              <a:t>Random Forest Classifier</a:t>
            </a:r>
            <a:endParaRPr lang="en-US" sz="1600" b="1" dirty="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An ensemble learning algorithm that combines multiple decision trees. </a:t>
            </a:r>
            <a:endParaRPr lang="en-US" sz="1600" dirty="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Used to improve prediction performance and reduce overfitting.</a:t>
            </a:r>
            <a:endParaRPr lang="en-US" sz="1600" dirty="0">
              <a:solidFill>
                <a:schemeClr val="bg2">
                  <a:lumMod val="76000"/>
                </a:schemeClr>
              </a:solidFill>
              <a:cs typeface="Open Sans"/>
            </a:endParaRPr>
          </a:p>
          <a:p>
            <a:pPr algn="l"/>
            <a:endParaRPr lang="en-US" sz="1600" dirty="0">
              <a:solidFill>
                <a:schemeClr val="bg2">
                  <a:lumMod val="76000"/>
                </a:schemeClr>
              </a:solidFill>
              <a:cs typeface="Open Sans"/>
            </a:endParaRPr>
          </a:p>
        </p:txBody>
      </p:sp>
      <p:sp>
        <p:nvSpPr>
          <p:cNvPr id="5" name="TextBox 4">
            <a:extLst>
              <a:ext uri="{FF2B5EF4-FFF2-40B4-BE49-F238E27FC236}">
                <a16:creationId xmlns:a16="http://schemas.microsoft.com/office/drawing/2014/main" id="{8F6088F8-F8AA-02E8-4321-CB0C97817365}"/>
              </a:ext>
            </a:extLst>
          </p:cNvPr>
          <p:cNvSpPr txBox="1"/>
          <p:nvPr/>
        </p:nvSpPr>
        <p:spPr>
          <a:xfrm>
            <a:off x="4131853" y="3856266"/>
            <a:ext cx="4580162"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bg2">
                    <a:lumMod val="76000"/>
                  </a:schemeClr>
                </a:solidFill>
              </a:rPr>
              <a:t>Why These Models Were Chosen:</a:t>
            </a:r>
            <a:endParaRPr lang="en-US" sz="1600" b="1">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Suitable for classification problems </a:t>
            </a:r>
            <a:endParaRPr lang="en-US" sz="160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Commonly used in financial risk prediction </a:t>
            </a:r>
            <a:endParaRPr lang="en-US" sz="160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Easy to evaluate and compare</a:t>
            </a:r>
            <a:endParaRPr lang="en-US" sz="1600">
              <a:solidFill>
                <a:schemeClr val="bg2">
                  <a:lumMod val="76000"/>
                </a:schemeClr>
              </a:solidFill>
              <a:cs typeface="Open Sans"/>
            </a:endParaRPr>
          </a:p>
          <a:p>
            <a:pPr algn="l"/>
            <a:endParaRPr lang="en-US" dirty="0">
              <a:cs typeface="Open Sans"/>
            </a:endParaRPr>
          </a:p>
        </p:txBody>
      </p:sp>
    </p:spTree>
    <p:extLst>
      <p:ext uri="{BB962C8B-B14F-4D97-AF65-F5344CB8AC3E}">
        <p14:creationId xmlns:p14="http://schemas.microsoft.com/office/powerpoint/2010/main" val="487815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childTnLst>
                                </p:cTn>
                              </p:par>
                              <p:par>
                                <p:cTn id="10" presetID="2" presetClass="entr" presetSubtype="4"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par>
                                <p:cTn id="14" presetID="22" presetClass="entr" presetSubtype="4"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P spid="3"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B71FB-5DFB-01A5-2ED4-EE7FCAD87186}"/>
            </a:ext>
          </a:extLst>
        </p:cNvPr>
        <p:cNvGrpSpPr/>
        <p:nvPr/>
      </p:nvGrpSpPr>
      <p:grpSpPr>
        <a:xfrm>
          <a:off x="0" y="0"/>
          <a:ext cx="0" cy="0"/>
          <a:chOff x="0" y="0"/>
          <a:chExt cx="0" cy="0"/>
        </a:xfrm>
      </p:grpSpPr>
      <p:pic>
        <p:nvPicPr>
          <p:cNvPr id="98" name="图片 97">
            <a:extLst>
              <a:ext uri="{FF2B5EF4-FFF2-40B4-BE49-F238E27FC236}">
                <a16:creationId xmlns:a16="http://schemas.microsoft.com/office/drawing/2014/main" id="{EC01740A-EE70-9AA1-2466-213D9C345974}"/>
              </a:ext>
            </a:extLst>
          </p:cNvPr>
          <p:cNvPicPr>
            <a:picLocks noChangeAspect="1"/>
          </p:cNvPicPr>
          <p:nvPr/>
        </p:nvPicPr>
        <p:blipFill rotWithShape="1">
          <a:blip r:embed="rId3"/>
          <a:srcRect t="11284" b="11844"/>
          <a:stretch>
            <a:fillRect/>
          </a:stretch>
        </p:blipFill>
        <p:spPr>
          <a:xfrm>
            <a:off x="83442" y="34651"/>
            <a:ext cx="5010912" cy="5143500"/>
          </a:xfrm>
          <a:prstGeom prst="rect">
            <a:avLst/>
          </a:prstGeom>
        </p:spPr>
      </p:pic>
      <p:sp>
        <p:nvSpPr>
          <p:cNvPr id="99" name="矩形 98">
            <a:extLst>
              <a:ext uri="{FF2B5EF4-FFF2-40B4-BE49-F238E27FC236}">
                <a16:creationId xmlns:a16="http://schemas.microsoft.com/office/drawing/2014/main" id="{D3093895-E88C-FBBD-163B-200F508F416A}"/>
              </a:ext>
            </a:extLst>
          </p:cNvPr>
          <p:cNvSpPr/>
          <p:nvPr/>
        </p:nvSpPr>
        <p:spPr bwMode="auto">
          <a:xfrm>
            <a:off x="-168979" y="252437"/>
            <a:ext cx="3403600" cy="829945"/>
          </a:xfrm>
          <a:prstGeom prst="rect">
            <a:avLst/>
          </a:prstGeom>
          <a:noFill/>
          <a:ln>
            <a:noFill/>
          </a:ln>
        </p:spPr>
        <p:txBody>
          <a:bodyPr wrap="square" rtlCol="0">
            <a:spAutoFit/>
          </a:bodyPr>
          <a:lstStyle/>
          <a:p>
            <a:pPr algn="ctr" defTabSz="457200"/>
            <a:r>
              <a:rPr lang="zh-CN" altLang="en-US" sz="4800" b="1">
                <a:ln w="38100">
                  <a:noFill/>
                </a:ln>
                <a:gradFill>
                  <a:gsLst>
                    <a:gs pos="0">
                      <a:srgbClr val="FCC490"/>
                    </a:gs>
                    <a:gs pos="100000">
                      <a:srgbClr val="FCC896"/>
                    </a:gs>
                  </a:gsLst>
                  <a:lin ang="0" scaled="1"/>
                </a:gradFill>
                <a:latin typeface="+mj-ea"/>
                <a:ea typeface="+mj-ea"/>
                <a:cs typeface="Philosopher" panose="00000500000000000000" charset="0"/>
                <a:sym typeface="Open Sans" panose="020B0606030504020204" charset="0"/>
              </a:rPr>
              <a:t>CONTENTS</a:t>
            </a:r>
          </a:p>
        </p:txBody>
      </p:sp>
      <p:sp>
        <p:nvSpPr>
          <p:cNvPr id="57" name="文本框 56">
            <a:extLst>
              <a:ext uri="{FF2B5EF4-FFF2-40B4-BE49-F238E27FC236}">
                <a16:creationId xmlns:a16="http://schemas.microsoft.com/office/drawing/2014/main" id="{223CD17D-EF10-5405-CCFF-8B209F1FCA97}"/>
              </a:ext>
            </a:extLst>
          </p:cNvPr>
          <p:cNvSpPr txBox="1"/>
          <p:nvPr/>
        </p:nvSpPr>
        <p:spPr>
          <a:xfrm>
            <a:off x="-6510" y="3006"/>
            <a:ext cx="765162" cy="306705"/>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r>
              <a:rPr lang="en-US" altLang="zh-CN" sz="1400" spc="0">
                <a:solidFill>
                  <a:schemeClr val="tx1">
                    <a:lumMod val="65000"/>
                    <a:lumOff val="35000"/>
                  </a:schemeClr>
                </a:solidFill>
                <a:effectLst/>
                <a:cs typeface="Philosopher" panose="00000500000000000000" charset="0"/>
                <a:sym typeface="Open Sans" panose="020B0606030504020204" charset="0"/>
              </a:rPr>
              <a:t>VR</a:t>
            </a:r>
          </a:p>
        </p:txBody>
      </p:sp>
      <p:sp>
        <p:nvSpPr>
          <p:cNvPr id="7" name="TextBox 6">
            <a:extLst>
              <a:ext uri="{FF2B5EF4-FFF2-40B4-BE49-F238E27FC236}">
                <a16:creationId xmlns:a16="http://schemas.microsoft.com/office/drawing/2014/main" id="{B6BA8777-669B-4C69-CFDA-DEB26A218716}"/>
              </a:ext>
            </a:extLst>
          </p:cNvPr>
          <p:cNvSpPr txBox="1"/>
          <p:nvPr/>
        </p:nvSpPr>
        <p:spPr>
          <a:xfrm>
            <a:off x="86918" y="1495027"/>
            <a:ext cx="25640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02. Project Objectives</a:t>
            </a:r>
            <a:endParaRPr lang="en-US" dirty="0">
              <a:solidFill>
                <a:srgbClr val="FCC490"/>
              </a:solidFill>
              <a:latin typeface="Philosopher"/>
            </a:endParaRPr>
          </a:p>
          <a:p>
            <a:pPr algn="ctr"/>
            <a:endParaRPr lang="en-US"/>
          </a:p>
        </p:txBody>
      </p:sp>
      <p:sp>
        <p:nvSpPr>
          <p:cNvPr id="9" name="TextBox 8">
            <a:extLst>
              <a:ext uri="{FF2B5EF4-FFF2-40B4-BE49-F238E27FC236}">
                <a16:creationId xmlns:a16="http://schemas.microsoft.com/office/drawing/2014/main" id="{F09955E9-7D26-B512-0B48-9B95514215BA}"/>
              </a:ext>
            </a:extLst>
          </p:cNvPr>
          <p:cNvSpPr txBox="1"/>
          <p:nvPr/>
        </p:nvSpPr>
        <p:spPr>
          <a:xfrm>
            <a:off x="86918" y="192484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03. Dataset Description</a:t>
            </a:r>
            <a:endParaRPr lang="en-US" dirty="0">
              <a:solidFill>
                <a:srgbClr val="FCC490"/>
              </a:solidFill>
              <a:latin typeface="Philosopher"/>
            </a:endParaRPr>
          </a:p>
          <a:p>
            <a:pPr algn="ctr"/>
            <a:endParaRPr lang="en-US"/>
          </a:p>
        </p:txBody>
      </p:sp>
      <p:sp>
        <p:nvSpPr>
          <p:cNvPr id="10" name="TextBox 9">
            <a:extLst>
              <a:ext uri="{FF2B5EF4-FFF2-40B4-BE49-F238E27FC236}">
                <a16:creationId xmlns:a16="http://schemas.microsoft.com/office/drawing/2014/main" id="{B2A81BAD-692E-2ADC-AE5C-3AB433740E10}"/>
              </a:ext>
            </a:extLst>
          </p:cNvPr>
          <p:cNvSpPr txBox="1"/>
          <p:nvPr/>
        </p:nvSpPr>
        <p:spPr>
          <a:xfrm>
            <a:off x="86918" y="238878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04. Data Processing</a:t>
            </a:r>
            <a:endParaRPr lang="en-US" dirty="0">
              <a:solidFill>
                <a:srgbClr val="FCC490"/>
              </a:solidFill>
              <a:latin typeface="Philosopher"/>
            </a:endParaRPr>
          </a:p>
          <a:p>
            <a:pPr algn="ctr"/>
            <a:endParaRPr lang="en-US"/>
          </a:p>
        </p:txBody>
      </p:sp>
      <p:sp>
        <p:nvSpPr>
          <p:cNvPr id="11" name="TextBox 10">
            <a:extLst>
              <a:ext uri="{FF2B5EF4-FFF2-40B4-BE49-F238E27FC236}">
                <a16:creationId xmlns:a16="http://schemas.microsoft.com/office/drawing/2014/main" id="{15EB02DF-2ABF-C867-98E1-40B26C9C6D1F}"/>
              </a:ext>
            </a:extLst>
          </p:cNvPr>
          <p:cNvSpPr txBox="1"/>
          <p:nvPr/>
        </p:nvSpPr>
        <p:spPr>
          <a:xfrm>
            <a:off x="86918" y="2818885"/>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05. Machine Learning Model</a:t>
            </a:r>
            <a:endParaRPr lang="en-US" dirty="0">
              <a:solidFill>
                <a:srgbClr val="FCC490"/>
              </a:solidFill>
              <a:latin typeface="Philosopher"/>
            </a:endParaRPr>
          </a:p>
          <a:p>
            <a:pPr algn="ctr"/>
            <a:endParaRPr lang="en-US"/>
          </a:p>
        </p:txBody>
      </p:sp>
      <p:sp>
        <p:nvSpPr>
          <p:cNvPr id="12" name="TextBox 11">
            <a:extLst>
              <a:ext uri="{FF2B5EF4-FFF2-40B4-BE49-F238E27FC236}">
                <a16:creationId xmlns:a16="http://schemas.microsoft.com/office/drawing/2014/main" id="{88DF2EC8-AF42-8663-A8F9-F220145FF2C4}"/>
              </a:ext>
            </a:extLst>
          </p:cNvPr>
          <p:cNvSpPr txBox="1"/>
          <p:nvPr/>
        </p:nvSpPr>
        <p:spPr>
          <a:xfrm>
            <a:off x="86918" y="3243649"/>
            <a:ext cx="4572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FCC490"/>
                </a:solidFill>
                <a:latin typeface="Philosopher"/>
              </a:rPr>
              <a:t>06. Model </a:t>
            </a:r>
            <a:r>
              <a:rPr lang="en-US" sz="2400" err="1">
                <a:solidFill>
                  <a:srgbClr val="FCC490"/>
                </a:solidFill>
                <a:latin typeface="Philosopher"/>
              </a:rPr>
              <a:t>Evaluat</a:t>
            </a:r>
            <a:r>
              <a:rPr lang="en-US" sz="2400" dirty="0">
                <a:solidFill>
                  <a:srgbClr val="FCC490"/>
                </a:solidFill>
                <a:latin typeface="Philosopher"/>
              </a:rPr>
              <a:t>ion</a:t>
            </a:r>
          </a:p>
          <a:p>
            <a:pPr algn="ctr"/>
            <a:endParaRPr lang="en-US"/>
          </a:p>
        </p:txBody>
      </p:sp>
      <p:sp>
        <p:nvSpPr>
          <p:cNvPr id="13" name="TextBox 12">
            <a:extLst>
              <a:ext uri="{FF2B5EF4-FFF2-40B4-BE49-F238E27FC236}">
                <a16:creationId xmlns:a16="http://schemas.microsoft.com/office/drawing/2014/main" id="{1EAD93C6-FAE4-77D6-B9A8-00F8D1EBA8D6}"/>
              </a:ext>
            </a:extLst>
          </p:cNvPr>
          <p:cNvSpPr txBox="1"/>
          <p:nvPr/>
        </p:nvSpPr>
        <p:spPr>
          <a:xfrm>
            <a:off x="86918" y="3678803"/>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07. Key Findings</a:t>
            </a:r>
            <a:endParaRPr lang="en-US" dirty="0">
              <a:solidFill>
                <a:srgbClr val="FCC490"/>
              </a:solidFill>
              <a:latin typeface="Philosopher"/>
            </a:endParaRPr>
          </a:p>
          <a:p>
            <a:pPr algn="ctr"/>
            <a:endParaRPr lang="en-US"/>
          </a:p>
        </p:txBody>
      </p:sp>
      <p:sp>
        <p:nvSpPr>
          <p:cNvPr id="14" name="TextBox 13">
            <a:extLst>
              <a:ext uri="{FF2B5EF4-FFF2-40B4-BE49-F238E27FC236}">
                <a16:creationId xmlns:a16="http://schemas.microsoft.com/office/drawing/2014/main" id="{FFC591D2-E5E0-C379-A096-2EDD9B494040}"/>
              </a:ext>
            </a:extLst>
          </p:cNvPr>
          <p:cNvSpPr txBox="1"/>
          <p:nvPr/>
        </p:nvSpPr>
        <p:spPr>
          <a:xfrm>
            <a:off x="86918" y="1083042"/>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01. Introduction &amp; Problem Statement</a:t>
            </a:r>
            <a:endParaRPr lang="en-US" dirty="0">
              <a:solidFill>
                <a:srgbClr val="FCC490"/>
              </a:solidFill>
              <a:latin typeface="Philosopher"/>
            </a:endParaRPr>
          </a:p>
          <a:p>
            <a:pPr algn="ctr"/>
            <a:endParaRPr lang="en-US"/>
          </a:p>
        </p:txBody>
      </p:sp>
      <p:sp>
        <p:nvSpPr>
          <p:cNvPr id="17" name="TextBox 16">
            <a:extLst>
              <a:ext uri="{FF2B5EF4-FFF2-40B4-BE49-F238E27FC236}">
                <a16:creationId xmlns:a16="http://schemas.microsoft.com/office/drawing/2014/main" id="{08DBE32C-9978-779D-5B77-7942BB27A357}"/>
              </a:ext>
            </a:extLst>
          </p:cNvPr>
          <p:cNvSpPr txBox="1"/>
          <p:nvPr/>
        </p:nvSpPr>
        <p:spPr>
          <a:xfrm>
            <a:off x="83127" y="3860222"/>
            <a:ext cx="4572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rgbClr val="FCC490"/>
              </a:solidFill>
              <a:latin typeface="Philosopher"/>
            </a:endParaRPr>
          </a:p>
          <a:p>
            <a:r>
              <a:rPr lang="en-US">
                <a:solidFill>
                  <a:srgbClr val="FCC490"/>
                </a:solidFill>
                <a:latin typeface="Philosopher"/>
              </a:rPr>
              <a:t>08. Challenges</a:t>
            </a:r>
            <a:r>
              <a:rPr lang="en-US" dirty="0">
                <a:solidFill>
                  <a:srgbClr val="FCC490"/>
                </a:solidFill>
                <a:latin typeface="Philosopher"/>
              </a:rPr>
              <a:t> Encountered</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a:cs typeface="Open Sans"/>
            </a:endParaRPr>
          </a:p>
          <a:p>
            <a:pPr algn="ctr"/>
            <a:endParaRPr lang="en-US"/>
          </a:p>
        </p:txBody>
      </p:sp>
      <p:sp>
        <p:nvSpPr>
          <p:cNvPr id="18" name="TextBox 17">
            <a:extLst>
              <a:ext uri="{FF2B5EF4-FFF2-40B4-BE49-F238E27FC236}">
                <a16:creationId xmlns:a16="http://schemas.microsoft.com/office/drawing/2014/main" id="{FABEFAEA-C809-0A1B-E2F6-E75BC4040667}"/>
              </a:ext>
            </a:extLst>
          </p:cNvPr>
          <p:cNvSpPr txBox="1"/>
          <p:nvPr/>
        </p:nvSpPr>
        <p:spPr>
          <a:xfrm>
            <a:off x="83126" y="4494068"/>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09. Conclusion &amp; Recommendati</a:t>
            </a:r>
            <a:r>
              <a:rPr lang="en-US" dirty="0">
                <a:solidFill>
                  <a:srgbClr val="FCC490"/>
                </a:solidFill>
                <a:latin typeface="Philosopher"/>
              </a:rPr>
              <a:t>ons</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dirty="0"/>
          </a:p>
          <a:p>
            <a:pPr algn="ctr"/>
            <a:endParaRPr lang="en-US"/>
          </a:p>
        </p:txBody>
      </p:sp>
      <p:sp>
        <p:nvSpPr>
          <p:cNvPr id="3" name="TextBox 2">
            <a:extLst>
              <a:ext uri="{FF2B5EF4-FFF2-40B4-BE49-F238E27FC236}">
                <a16:creationId xmlns:a16="http://schemas.microsoft.com/office/drawing/2014/main" id="{9C5943D8-0BC7-3D50-632E-21DBA51B1C40}"/>
              </a:ext>
            </a:extLst>
          </p:cNvPr>
          <p:cNvSpPr txBox="1"/>
          <p:nvPr/>
        </p:nvSpPr>
        <p:spPr>
          <a:xfrm>
            <a:off x="3887199" y="12105"/>
            <a:ext cx="5260889"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chemeClr val="bg2">
                    <a:lumMod val="76000"/>
                  </a:schemeClr>
                </a:solidFill>
                <a:ea typeface="+mn-lt"/>
                <a:cs typeface="+mn-lt"/>
              </a:rPr>
              <a:t>The performance of the machine learning models was evaluated using different classification metrics to determine how effectively the models predicted loan defaults</a:t>
            </a:r>
            <a:r>
              <a:rPr lang="en-US" dirty="0">
                <a:ea typeface="+mn-lt"/>
                <a:cs typeface="+mn-lt"/>
              </a:rPr>
              <a:t>.</a:t>
            </a:r>
            <a:endParaRPr lang="en-US" dirty="0"/>
          </a:p>
        </p:txBody>
      </p:sp>
      <p:sp>
        <p:nvSpPr>
          <p:cNvPr id="4" name="TextBox 3">
            <a:extLst>
              <a:ext uri="{FF2B5EF4-FFF2-40B4-BE49-F238E27FC236}">
                <a16:creationId xmlns:a16="http://schemas.microsoft.com/office/drawing/2014/main" id="{BE7064BB-F4EB-D4EC-C35D-8C7D8464A3C1}"/>
              </a:ext>
            </a:extLst>
          </p:cNvPr>
          <p:cNvSpPr txBox="1"/>
          <p:nvPr/>
        </p:nvSpPr>
        <p:spPr>
          <a:xfrm>
            <a:off x="3916730" y="984916"/>
            <a:ext cx="5160490"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bg2">
                    <a:lumMod val="76000"/>
                  </a:schemeClr>
                </a:solidFill>
              </a:rPr>
              <a:t>Evaluation Metrics Used:</a:t>
            </a:r>
            <a:endParaRPr lang="en-US" sz="1600" b="1">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Accuracy </a:t>
            </a:r>
            <a:endParaRPr lang="en-US" sz="1400">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Precision </a:t>
            </a:r>
            <a:endParaRPr lang="en-US" sz="1400">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Recall </a:t>
            </a:r>
            <a:endParaRPr lang="en-US" sz="1400">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F1-score </a:t>
            </a:r>
            <a:endParaRPr lang="en-US" sz="1400">
              <a:solidFill>
                <a:schemeClr val="bg2">
                  <a:lumMod val="76000"/>
                </a:schemeClr>
              </a:solidFill>
              <a:cs typeface="Open Sans"/>
            </a:endParaRPr>
          </a:p>
          <a:p>
            <a:pPr marL="285750" indent="-285750">
              <a:buFont typeface="Arial"/>
              <a:buChar char="•"/>
            </a:pPr>
            <a:r>
              <a:rPr lang="en-US" sz="1400">
                <a:solidFill>
                  <a:schemeClr val="bg2">
                    <a:lumMod val="76000"/>
                  </a:schemeClr>
                </a:solidFill>
                <a:ea typeface="+mn-lt"/>
                <a:cs typeface="+mn-lt"/>
              </a:rPr>
              <a:t>Confusion Matrix</a:t>
            </a:r>
            <a:endParaRPr lang="en-US" sz="1400">
              <a:solidFill>
                <a:schemeClr val="bg2">
                  <a:lumMod val="76000"/>
                </a:schemeClr>
              </a:solidFill>
              <a:cs typeface="Open Sans"/>
            </a:endParaRPr>
          </a:p>
          <a:p>
            <a:pPr algn="l"/>
            <a:endParaRPr lang="en-US" sz="1600" dirty="0">
              <a:solidFill>
                <a:schemeClr val="bg2">
                  <a:lumMod val="76000"/>
                </a:schemeClr>
              </a:solidFill>
              <a:cs typeface="Open Sans"/>
            </a:endParaRPr>
          </a:p>
        </p:txBody>
      </p:sp>
      <p:sp>
        <p:nvSpPr>
          <p:cNvPr id="6" name="TextBox 5">
            <a:extLst>
              <a:ext uri="{FF2B5EF4-FFF2-40B4-BE49-F238E27FC236}">
                <a16:creationId xmlns:a16="http://schemas.microsoft.com/office/drawing/2014/main" id="{6E95F1EB-0425-42EE-8369-1046052AFEC0}"/>
              </a:ext>
            </a:extLst>
          </p:cNvPr>
          <p:cNvSpPr txBox="1"/>
          <p:nvPr/>
        </p:nvSpPr>
        <p:spPr>
          <a:xfrm>
            <a:off x="3722988" y="2385527"/>
            <a:ext cx="5345841" cy="30162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914400" algn="just"/>
            <a:r>
              <a:rPr lang="en-US" sz="1600" b="1">
                <a:solidFill>
                  <a:schemeClr val="bg2">
                    <a:lumMod val="76000"/>
                  </a:schemeClr>
                </a:solidFill>
              </a:rPr>
              <a:t>Key Results:</a:t>
            </a:r>
            <a:endParaRPr lang="en-US" sz="1600" b="1">
              <a:solidFill>
                <a:schemeClr val="bg2">
                  <a:lumMod val="76000"/>
                </a:schemeClr>
              </a:solidFill>
              <a:cs typeface="Open Sans"/>
            </a:endParaRPr>
          </a:p>
          <a:p>
            <a:r>
              <a:rPr lang="en-US" sz="1600" b="1">
                <a:solidFill>
                  <a:schemeClr val="bg2">
                    <a:lumMod val="76000"/>
                  </a:schemeClr>
                </a:solidFill>
              </a:rPr>
              <a:t>Logistic Regression</a:t>
            </a:r>
            <a:endParaRPr lang="en-US" sz="1600" b="1">
              <a:solidFill>
                <a:schemeClr val="bg2">
                  <a:lumMod val="76000"/>
                </a:schemeClr>
              </a:solidFill>
              <a:cs typeface="Open Sans"/>
            </a:endParaRPr>
          </a:p>
          <a:p>
            <a:pPr marL="285750" indent="-285750">
              <a:buFont typeface="Arial"/>
              <a:buChar char="•"/>
            </a:pPr>
            <a:r>
              <a:rPr lang="en-US" sz="1500">
                <a:solidFill>
                  <a:schemeClr val="bg2">
                    <a:lumMod val="76000"/>
                  </a:schemeClr>
                </a:solidFill>
                <a:ea typeface="+mn-lt"/>
                <a:cs typeface="+mn-lt"/>
              </a:rPr>
              <a:t>Accuracy: approximately 50% </a:t>
            </a:r>
            <a:endParaRPr lang="en-US" sz="1500">
              <a:solidFill>
                <a:schemeClr val="bg2">
                  <a:lumMod val="76000"/>
                </a:schemeClr>
              </a:solidFill>
              <a:cs typeface="Open Sans"/>
            </a:endParaRPr>
          </a:p>
          <a:p>
            <a:pPr marL="285750" indent="-285750">
              <a:buFont typeface="Arial"/>
              <a:buChar char="•"/>
            </a:pPr>
            <a:r>
              <a:rPr lang="en-US" sz="1500">
                <a:solidFill>
                  <a:schemeClr val="bg2">
                    <a:lumMod val="76000"/>
                  </a:schemeClr>
                </a:solidFill>
                <a:ea typeface="+mn-lt"/>
                <a:cs typeface="+mn-lt"/>
              </a:rPr>
              <a:t>Detected more defaulters compared to Random Forest</a:t>
            </a:r>
            <a:r>
              <a:rPr lang="en-US" sz="1600" dirty="0">
                <a:solidFill>
                  <a:schemeClr val="bg2">
                    <a:lumMod val="76000"/>
                  </a:schemeClr>
                </a:solidFill>
                <a:ea typeface="+mn-lt"/>
                <a:cs typeface="+mn-lt"/>
              </a:rPr>
              <a:t> </a:t>
            </a:r>
            <a:endParaRPr lang="en-US" sz="1600" dirty="0">
              <a:solidFill>
                <a:schemeClr val="bg2">
                  <a:lumMod val="76000"/>
                </a:schemeClr>
              </a:solidFill>
              <a:cs typeface="Open Sans"/>
            </a:endParaRPr>
          </a:p>
          <a:p>
            <a:r>
              <a:rPr lang="en-US" sz="1600" b="1">
                <a:solidFill>
                  <a:schemeClr val="bg2">
                    <a:lumMod val="76000"/>
                  </a:schemeClr>
                </a:solidFill>
              </a:rPr>
              <a:t>Random Forest</a:t>
            </a:r>
            <a:endParaRPr lang="en-US" sz="1600" b="1">
              <a:solidFill>
                <a:schemeClr val="bg2">
                  <a:lumMod val="76000"/>
                </a:schemeClr>
              </a:solidFill>
              <a:cs typeface="Open Sans"/>
            </a:endParaRPr>
          </a:p>
          <a:p>
            <a:pPr marL="285750" indent="-285750">
              <a:buFont typeface="Arial"/>
              <a:buChar char="•"/>
            </a:pPr>
            <a:r>
              <a:rPr lang="en-US" sz="1500">
                <a:solidFill>
                  <a:schemeClr val="bg2">
                    <a:lumMod val="76000"/>
                  </a:schemeClr>
                </a:solidFill>
                <a:ea typeface="+mn-lt"/>
                <a:cs typeface="+mn-lt"/>
              </a:rPr>
              <a:t>Accuracy: approximately 79% </a:t>
            </a:r>
            <a:endParaRPr lang="en-US" sz="1500">
              <a:solidFill>
                <a:schemeClr val="bg2">
                  <a:lumMod val="76000"/>
                </a:schemeClr>
              </a:solidFill>
              <a:cs typeface="Open Sans"/>
            </a:endParaRPr>
          </a:p>
          <a:p>
            <a:pPr marL="285750" indent="-285750">
              <a:buFont typeface="Arial"/>
              <a:buChar char="•"/>
            </a:pPr>
            <a:r>
              <a:rPr lang="en-US" sz="1500" dirty="0">
                <a:solidFill>
                  <a:schemeClr val="bg2">
                    <a:lumMod val="76000"/>
                  </a:schemeClr>
                </a:solidFill>
                <a:ea typeface="+mn-lt"/>
                <a:cs typeface="+mn-lt"/>
              </a:rPr>
              <a:t>Failed to correctly identify most defaulters due to class imbalance </a:t>
            </a:r>
            <a:endParaRPr lang="en-US" sz="1500">
              <a:solidFill>
                <a:schemeClr val="bg2">
                  <a:lumMod val="76000"/>
                </a:schemeClr>
              </a:solidFill>
              <a:cs typeface="Open Sans"/>
            </a:endParaRPr>
          </a:p>
          <a:p>
            <a:r>
              <a:rPr lang="en-US" sz="1600" b="1">
                <a:solidFill>
                  <a:schemeClr val="bg2">
                    <a:lumMod val="76000"/>
                  </a:schemeClr>
                </a:solidFill>
              </a:rPr>
              <a:t>Important Observation:</a:t>
            </a:r>
            <a:endParaRPr lang="en-US" sz="1600" b="1">
              <a:solidFill>
                <a:schemeClr val="bg2">
                  <a:lumMod val="76000"/>
                </a:schemeClr>
              </a:solidFill>
              <a:cs typeface="Open Sans"/>
            </a:endParaRPr>
          </a:p>
          <a:p>
            <a:pPr marL="285750" indent="-285750">
              <a:buFont typeface="Arial"/>
              <a:buChar char="•"/>
            </a:pPr>
            <a:r>
              <a:rPr lang="en-US" sz="1600" dirty="0">
                <a:solidFill>
                  <a:schemeClr val="bg2">
                    <a:lumMod val="76000"/>
                  </a:schemeClr>
                </a:solidFill>
                <a:ea typeface="+mn-lt"/>
                <a:cs typeface="+mn-lt"/>
              </a:rPr>
              <a:t>Accuracy alone was misleading because the dataset contained more non-defaulters than defaulters. </a:t>
            </a:r>
            <a:endParaRPr lang="en-US" sz="1600">
              <a:solidFill>
                <a:schemeClr val="bg2">
                  <a:lumMod val="76000"/>
                </a:schemeClr>
              </a:solidFill>
              <a:cs typeface="Open Sans"/>
            </a:endParaRPr>
          </a:p>
          <a:p>
            <a:pPr algn="l"/>
            <a:endParaRPr lang="en-US" dirty="0">
              <a:cs typeface="Open Sans"/>
            </a:endParaRPr>
          </a:p>
        </p:txBody>
      </p:sp>
    </p:spTree>
    <p:extLst>
      <p:ext uri="{BB962C8B-B14F-4D97-AF65-F5344CB8AC3E}">
        <p14:creationId xmlns:p14="http://schemas.microsoft.com/office/powerpoint/2010/main" val="8813555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childTnLst>
                                </p:cTn>
                              </p:par>
                              <p:par>
                                <p:cTn id="10" presetID="2" presetClass="entr" presetSubtype="4"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par>
                                <p:cTn id="14" presetID="2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p:bldP spid="4"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1175E-56D1-7763-D51C-C8A147D544E9}"/>
            </a:ext>
          </a:extLst>
        </p:cNvPr>
        <p:cNvGrpSpPr/>
        <p:nvPr/>
      </p:nvGrpSpPr>
      <p:grpSpPr>
        <a:xfrm>
          <a:off x="0" y="0"/>
          <a:ext cx="0" cy="0"/>
          <a:chOff x="0" y="0"/>
          <a:chExt cx="0" cy="0"/>
        </a:xfrm>
      </p:grpSpPr>
      <p:pic>
        <p:nvPicPr>
          <p:cNvPr id="98" name="图片 97">
            <a:extLst>
              <a:ext uri="{FF2B5EF4-FFF2-40B4-BE49-F238E27FC236}">
                <a16:creationId xmlns:a16="http://schemas.microsoft.com/office/drawing/2014/main" id="{1F3DC3C1-BC3A-7053-E97C-52881EF5E780}"/>
              </a:ext>
            </a:extLst>
          </p:cNvPr>
          <p:cNvPicPr>
            <a:picLocks noChangeAspect="1"/>
          </p:cNvPicPr>
          <p:nvPr/>
        </p:nvPicPr>
        <p:blipFill rotWithShape="1">
          <a:blip r:embed="rId3"/>
          <a:srcRect t="11284" b="11844"/>
          <a:stretch>
            <a:fillRect/>
          </a:stretch>
        </p:blipFill>
        <p:spPr>
          <a:xfrm>
            <a:off x="83442" y="34651"/>
            <a:ext cx="5010912" cy="5143500"/>
          </a:xfrm>
          <a:prstGeom prst="rect">
            <a:avLst/>
          </a:prstGeom>
        </p:spPr>
      </p:pic>
      <p:sp>
        <p:nvSpPr>
          <p:cNvPr id="99" name="矩形 98">
            <a:extLst>
              <a:ext uri="{FF2B5EF4-FFF2-40B4-BE49-F238E27FC236}">
                <a16:creationId xmlns:a16="http://schemas.microsoft.com/office/drawing/2014/main" id="{DB81427E-0298-CDF7-216C-DFCD3430610E}"/>
              </a:ext>
            </a:extLst>
          </p:cNvPr>
          <p:cNvSpPr/>
          <p:nvPr/>
        </p:nvSpPr>
        <p:spPr bwMode="auto">
          <a:xfrm>
            <a:off x="-168979" y="252437"/>
            <a:ext cx="3403600" cy="829945"/>
          </a:xfrm>
          <a:prstGeom prst="rect">
            <a:avLst/>
          </a:prstGeom>
          <a:noFill/>
          <a:ln>
            <a:noFill/>
          </a:ln>
        </p:spPr>
        <p:txBody>
          <a:bodyPr wrap="square" rtlCol="0">
            <a:spAutoFit/>
          </a:bodyPr>
          <a:lstStyle/>
          <a:p>
            <a:pPr algn="ctr" defTabSz="457200"/>
            <a:r>
              <a:rPr lang="zh-CN" altLang="en-US" sz="4800" b="1">
                <a:ln w="38100">
                  <a:noFill/>
                </a:ln>
                <a:gradFill>
                  <a:gsLst>
                    <a:gs pos="0">
                      <a:srgbClr val="FCC490"/>
                    </a:gs>
                    <a:gs pos="100000">
                      <a:srgbClr val="FCC896"/>
                    </a:gs>
                  </a:gsLst>
                  <a:lin ang="0" scaled="1"/>
                </a:gradFill>
                <a:latin typeface="+mj-ea"/>
                <a:ea typeface="+mj-ea"/>
                <a:cs typeface="Philosopher" panose="00000500000000000000" charset="0"/>
                <a:sym typeface="Open Sans" panose="020B0606030504020204" charset="0"/>
              </a:rPr>
              <a:t>CONTENTS</a:t>
            </a:r>
          </a:p>
        </p:txBody>
      </p:sp>
      <p:sp>
        <p:nvSpPr>
          <p:cNvPr id="57" name="文本框 56">
            <a:extLst>
              <a:ext uri="{FF2B5EF4-FFF2-40B4-BE49-F238E27FC236}">
                <a16:creationId xmlns:a16="http://schemas.microsoft.com/office/drawing/2014/main" id="{D2921E0B-D168-C4E6-414A-C302AFFC04C9}"/>
              </a:ext>
            </a:extLst>
          </p:cNvPr>
          <p:cNvSpPr txBox="1"/>
          <p:nvPr/>
        </p:nvSpPr>
        <p:spPr>
          <a:xfrm>
            <a:off x="-6510" y="3006"/>
            <a:ext cx="765162" cy="306705"/>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r>
              <a:rPr lang="en-US" altLang="zh-CN" sz="1400" spc="0">
                <a:solidFill>
                  <a:schemeClr val="tx1">
                    <a:lumMod val="65000"/>
                    <a:lumOff val="35000"/>
                  </a:schemeClr>
                </a:solidFill>
                <a:effectLst/>
                <a:cs typeface="Philosopher" panose="00000500000000000000" charset="0"/>
                <a:sym typeface="Open Sans" panose="020B0606030504020204" charset="0"/>
              </a:rPr>
              <a:t>VR</a:t>
            </a:r>
          </a:p>
        </p:txBody>
      </p:sp>
      <p:sp>
        <p:nvSpPr>
          <p:cNvPr id="7" name="TextBox 6">
            <a:extLst>
              <a:ext uri="{FF2B5EF4-FFF2-40B4-BE49-F238E27FC236}">
                <a16:creationId xmlns:a16="http://schemas.microsoft.com/office/drawing/2014/main" id="{E99EC97F-5305-DEF7-5445-A168CBB4D45A}"/>
              </a:ext>
            </a:extLst>
          </p:cNvPr>
          <p:cNvSpPr txBox="1"/>
          <p:nvPr/>
        </p:nvSpPr>
        <p:spPr>
          <a:xfrm>
            <a:off x="86918" y="1495027"/>
            <a:ext cx="25640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02. Project Objectives</a:t>
            </a:r>
            <a:endParaRPr lang="en-US" dirty="0">
              <a:solidFill>
                <a:srgbClr val="FCC490"/>
              </a:solidFill>
              <a:latin typeface="Philosopher"/>
            </a:endParaRPr>
          </a:p>
          <a:p>
            <a:pPr algn="ctr"/>
            <a:endParaRPr lang="en-US"/>
          </a:p>
        </p:txBody>
      </p:sp>
      <p:sp>
        <p:nvSpPr>
          <p:cNvPr id="9" name="TextBox 8">
            <a:extLst>
              <a:ext uri="{FF2B5EF4-FFF2-40B4-BE49-F238E27FC236}">
                <a16:creationId xmlns:a16="http://schemas.microsoft.com/office/drawing/2014/main" id="{FDB60F29-B873-451D-9E0B-16868898F150}"/>
              </a:ext>
            </a:extLst>
          </p:cNvPr>
          <p:cNvSpPr txBox="1"/>
          <p:nvPr/>
        </p:nvSpPr>
        <p:spPr>
          <a:xfrm>
            <a:off x="86918" y="192484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03. Dataset Description</a:t>
            </a:r>
            <a:endParaRPr lang="en-US" dirty="0">
              <a:solidFill>
                <a:srgbClr val="FCC490"/>
              </a:solidFill>
              <a:latin typeface="Philosopher"/>
            </a:endParaRPr>
          </a:p>
          <a:p>
            <a:pPr algn="ctr"/>
            <a:endParaRPr lang="en-US"/>
          </a:p>
        </p:txBody>
      </p:sp>
      <p:sp>
        <p:nvSpPr>
          <p:cNvPr id="10" name="TextBox 9">
            <a:extLst>
              <a:ext uri="{FF2B5EF4-FFF2-40B4-BE49-F238E27FC236}">
                <a16:creationId xmlns:a16="http://schemas.microsoft.com/office/drawing/2014/main" id="{D5AB39A8-FF08-15EF-04F2-56E13FAC1930}"/>
              </a:ext>
            </a:extLst>
          </p:cNvPr>
          <p:cNvSpPr txBox="1"/>
          <p:nvPr/>
        </p:nvSpPr>
        <p:spPr>
          <a:xfrm>
            <a:off x="86918" y="238878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04. Data Processing</a:t>
            </a:r>
            <a:endParaRPr lang="en-US" dirty="0">
              <a:solidFill>
                <a:srgbClr val="FCC490"/>
              </a:solidFill>
              <a:latin typeface="Philosopher"/>
            </a:endParaRPr>
          </a:p>
          <a:p>
            <a:pPr algn="ctr"/>
            <a:endParaRPr lang="en-US"/>
          </a:p>
        </p:txBody>
      </p:sp>
      <p:sp>
        <p:nvSpPr>
          <p:cNvPr id="11" name="TextBox 10">
            <a:extLst>
              <a:ext uri="{FF2B5EF4-FFF2-40B4-BE49-F238E27FC236}">
                <a16:creationId xmlns:a16="http://schemas.microsoft.com/office/drawing/2014/main" id="{214C8F4E-6896-020B-0E5B-D773326D3363}"/>
              </a:ext>
            </a:extLst>
          </p:cNvPr>
          <p:cNvSpPr txBox="1"/>
          <p:nvPr/>
        </p:nvSpPr>
        <p:spPr>
          <a:xfrm>
            <a:off x="86918" y="2818885"/>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05. Machine Learning Model</a:t>
            </a:r>
            <a:endParaRPr lang="en-US" dirty="0">
              <a:solidFill>
                <a:srgbClr val="FCC490"/>
              </a:solidFill>
              <a:latin typeface="Philosopher"/>
            </a:endParaRPr>
          </a:p>
          <a:p>
            <a:pPr algn="ctr"/>
            <a:endParaRPr lang="en-US"/>
          </a:p>
        </p:txBody>
      </p:sp>
      <p:sp>
        <p:nvSpPr>
          <p:cNvPr id="12" name="TextBox 11">
            <a:extLst>
              <a:ext uri="{FF2B5EF4-FFF2-40B4-BE49-F238E27FC236}">
                <a16:creationId xmlns:a16="http://schemas.microsoft.com/office/drawing/2014/main" id="{C04E15A8-BA86-A109-895F-747EF42A8603}"/>
              </a:ext>
            </a:extLst>
          </p:cNvPr>
          <p:cNvSpPr txBox="1"/>
          <p:nvPr/>
        </p:nvSpPr>
        <p:spPr>
          <a:xfrm>
            <a:off x="86918" y="3243649"/>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06. Model </a:t>
            </a:r>
            <a:r>
              <a:rPr lang="en-US" dirty="0" err="1">
                <a:solidFill>
                  <a:srgbClr val="FCC490"/>
                </a:solidFill>
                <a:latin typeface="Philosopher"/>
              </a:rPr>
              <a:t>Evaluat</a:t>
            </a:r>
            <a:r>
              <a:rPr lang="en-US" dirty="0">
                <a:solidFill>
                  <a:srgbClr val="FCC490"/>
                </a:solidFill>
                <a:latin typeface="Philosopher"/>
              </a:rPr>
              <a:t>ion</a:t>
            </a:r>
          </a:p>
          <a:p>
            <a:pPr algn="ctr"/>
            <a:endParaRPr lang="en-US"/>
          </a:p>
        </p:txBody>
      </p:sp>
      <p:sp>
        <p:nvSpPr>
          <p:cNvPr id="13" name="TextBox 12">
            <a:extLst>
              <a:ext uri="{FF2B5EF4-FFF2-40B4-BE49-F238E27FC236}">
                <a16:creationId xmlns:a16="http://schemas.microsoft.com/office/drawing/2014/main" id="{26890F10-6003-09A2-F834-13D4A5CE0220}"/>
              </a:ext>
            </a:extLst>
          </p:cNvPr>
          <p:cNvSpPr txBox="1"/>
          <p:nvPr/>
        </p:nvSpPr>
        <p:spPr>
          <a:xfrm>
            <a:off x="86918" y="3678803"/>
            <a:ext cx="4572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FCC490"/>
                </a:solidFill>
                <a:latin typeface="Philosopher"/>
              </a:rPr>
              <a:t>07. Key Findings</a:t>
            </a:r>
            <a:endParaRPr lang="en-US" sz="2400" dirty="0">
              <a:solidFill>
                <a:srgbClr val="FCC490"/>
              </a:solidFill>
              <a:latin typeface="Philosopher"/>
            </a:endParaRPr>
          </a:p>
          <a:p>
            <a:pPr algn="ctr"/>
            <a:endParaRPr lang="en-US"/>
          </a:p>
        </p:txBody>
      </p:sp>
      <p:sp>
        <p:nvSpPr>
          <p:cNvPr id="14" name="TextBox 13">
            <a:extLst>
              <a:ext uri="{FF2B5EF4-FFF2-40B4-BE49-F238E27FC236}">
                <a16:creationId xmlns:a16="http://schemas.microsoft.com/office/drawing/2014/main" id="{5A51180E-D410-71F5-D3E8-593941BD89E7}"/>
              </a:ext>
            </a:extLst>
          </p:cNvPr>
          <p:cNvSpPr txBox="1"/>
          <p:nvPr/>
        </p:nvSpPr>
        <p:spPr>
          <a:xfrm>
            <a:off x="86918" y="1083042"/>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01. Introduction &amp; Problem Statement</a:t>
            </a:r>
            <a:endParaRPr lang="en-US" dirty="0">
              <a:solidFill>
                <a:srgbClr val="FCC490"/>
              </a:solidFill>
              <a:latin typeface="Philosopher"/>
            </a:endParaRPr>
          </a:p>
          <a:p>
            <a:pPr algn="ctr"/>
            <a:endParaRPr lang="en-US"/>
          </a:p>
        </p:txBody>
      </p:sp>
      <p:sp>
        <p:nvSpPr>
          <p:cNvPr id="17" name="TextBox 16">
            <a:extLst>
              <a:ext uri="{FF2B5EF4-FFF2-40B4-BE49-F238E27FC236}">
                <a16:creationId xmlns:a16="http://schemas.microsoft.com/office/drawing/2014/main" id="{49AEE82B-76E6-9403-F556-4BCF4B33500D}"/>
              </a:ext>
            </a:extLst>
          </p:cNvPr>
          <p:cNvSpPr txBox="1"/>
          <p:nvPr/>
        </p:nvSpPr>
        <p:spPr>
          <a:xfrm>
            <a:off x="83127" y="3860222"/>
            <a:ext cx="4572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rgbClr val="FCC490"/>
              </a:solidFill>
              <a:latin typeface="Philosopher"/>
            </a:endParaRPr>
          </a:p>
          <a:p>
            <a:r>
              <a:rPr lang="en-US">
                <a:solidFill>
                  <a:srgbClr val="FCC490"/>
                </a:solidFill>
                <a:latin typeface="Philosopher"/>
              </a:rPr>
              <a:t>08. Challenges</a:t>
            </a:r>
            <a:r>
              <a:rPr lang="en-US" dirty="0">
                <a:solidFill>
                  <a:srgbClr val="FCC490"/>
                </a:solidFill>
                <a:latin typeface="Philosopher"/>
              </a:rPr>
              <a:t> Encountered</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a:cs typeface="Open Sans"/>
            </a:endParaRPr>
          </a:p>
          <a:p>
            <a:pPr algn="ctr"/>
            <a:endParaRPr lang="en-US"/>
          </a:p>
        </p:txBody>
      </p:sp>
      <p:sp>
        <p:nvSpPr>
          <p:cNvPr id="18" name="TextBox 17">
            <a:extLst>
              <a:ext uri="{FF2B5EF4-FFF2-40B4-BE49-F238E27FC236}">
                <a16:creationId xmlns:a16="http://schemas.microsoft.com/office/drawing/2014/main" id="{C078BD96-9E05-DA47-D4DC-7D28FD7C9720}"/>
              </a:ext>
            </a:extLst>
          </p:cNvPr>
          <p:cNvSpPr txBox="1"/>
          <p:nvPr/>
        </p:nvSpPr>
        <p:spPr>
          <a:xfrm>
            <a:off x="83126" y="4494068"/>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09. Conclusion &amp; Recommendati</a:t>
            </a:r>
            <a:r>
              <a:rPr lang="en-US" dirty="0">
                <a:solidFill>
                  <a:srgbClr val="FCC490"/>
                </a:solidFill>
                <a:latin typeface="Philosopher"/>
              </a:rPr>
              <a:t>ons</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dirty="0"/>
          </a:p>
          <a:p>
            <a:pPr algn="ctr"/>
            <a:endParaRPr lang="en-US"/>
          </a:p>
        </p:txBody>
      </p:sp>
      <p:sp>
        <p:nvSpPr>
          <p:cNvPr id="3" name="TextBox 2">
            <a:extLst>
              <a:ext uri="{FF2B5EF4-FFF2-40B4-BE49-F238E27FC236}">
                <a16:creationId xmlns:a16="http://schemas.microsoft.com/office/drawing/2014/main" id="{755A5F16-4C5F-01A6-9F0D-1064C4DED99A}"/>
              </a:ext>
            </a:extLst>
          </p:cNvPr>
          <p:cNvSpPr txBox="1"/>
          <p:nvPr/>
        </p:nvSpPr>
        <p:spPr>
          <a:xfrm>
            <a:off x="3876591" y="247584"/>
            <a:ext cx="5253716"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solidFill>
                  <a:schemeClr val="bg2">
                    <a:lumMod val="76000"/>
                  </a:schemeClr>
                </a:solidFill>
                <a:ea typeface="+mn-lt"/>
                <a:cs typeface="+mn-lt"/>
              </a:rPr>
              <a:t>The project revealed several important </a:t>
            </a:r>
            <a:r>
              <a:rPr lang="en-US" sz="1500" b="1" dirty="0">
                <a:solidFill>
                  <a:schemeClr val="bg2">
                    <a:lumMod val="76000"/>
                  </a:schemeClr>
                </a:solidFill>
                <a:ea typeface="+mn-lt"/>
                <a:cs typeface="+mn-lt"/>
              </a:rPr>
              <a:t>insights</a:t>
            </a:r>
            <a:r>
              <a:rPr lang="en-US" sz="1500" dirty="0">
                <a:solidFill>
                  <a:schemeClr val="bg2">
                    <a:lumMod val="76000"/>
                  </a:schemeClr>
                </a:solidFill>
                <a:ea typeface="+mn-lt"/>
                <a:cs typeface="+mn-lt"/>
              </a:rPr>
              <a:t> regarding machine learning performance and loan default prediction in the financial industry.</a:t>
            </a:r>
            <a:endParaRPr lang="en-US" sz="1500">
              <a:solidFill>
                <a:schemeClr val="bg2">
                  <a:lumMod val="76000"/>
                </a:schemeClr>
              </a:solidFill>
              <a:cs typeface="Open Sans"/>
            </a:endParaRPr>
          </a:p>
        </p:txBody>
      </p:sp>
      <p:sp>
        <p:nvSpPr>
          <p:cNvPr id="4" name="TextBox 3">
            <a:extLst>
              <a:ext uri="{FF2B5EF4-FFF2-40B4-BE49-F238E27FC236}">
                <a16:creationId xmlns:a16="http://schemas.microsoft.com/office/drawing/2014/main" id="{D7E5DD2E-A740-A4CC-112F-554234FFF7BE}"/>
              </a:ext>
            </a:extLst>
          </p:cNvPr>
          <p:cNvSpPr txBox="1"/>
          <p:nvPr/>
        </p:nvSpPr>
        <p:spPr>
          <a:xfrm>
            <a:off x="3876648" y="1008175"/>
            <a:ext cx="5202688"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bg2">
                    <a:lumMod val="76000"/>
                  </a:schemeClr>
                </a:solidFill>
              </a:rPr>
              <a:t>Main Findings:</a:t>
            </a:r>
            <a:endParaRPr lang="en-US" sz="1600" b="1" dirty="0">
              <a:solidFill>
                <a:schemeClr val="bg2">
                  <a:lumMod val="76000"/>
                </a:schemeClr>
              </a:solidFill>
              <a:cs typeface="Open Sans"/>
            </a:endParaRPr>
          </a:p>
          <a:p>
            <a:pPr marL="285750" indent="-285750">
              <a:buFont typeface="Arial"/>
              <a:buChar char="•"/>
            </a:pPr>
            <a:r>
              <a:rPr lang="en-US" sz="1500">
                <a:solidFill>
                  <a:schemeClr val="bg2">
                    <a:lumMod val="76000"/>
                  </a:schemeClr>
                </a:solidFill>
                <a:ea typeface="+mn-lt"/>
                <a:cs typeface="+mn-lt"/>
              </a:rPr>
              <a:t>Class imbalance significantly affected model performance. </a:t>
            </a:r>
            <a:endParaRPr lang="en-US" sz="1500">
              <a:solidFill>
                <a:schemeClr val="bg2">
                  <a:lumMod val="76000"/>
                </a:schemeClr>
              </a:solidFill>
              <a:cs typeface="Open Sans"/>
            </a:endParaRPr>
          </a:p>
          <a:p>
            <a:pPr marL="285750" indent="-285750">
              <a:buFont typeface="Arial"/>
              <a:buChar char="•"/>
            </a:pPr>
            <a:r>
              <a:rPr lang="en-US" sz="1500">
                <a:solidFill>
                  <a:schemeClr val="bg2">
                    <a:lumMod val="76000"/>
                  </a:schemeClr>
                </a:solidFill>
                <a:ea typeface="+mn-lt"/>
                <a:cs typeface="+mn-lt"/>
              </a:rPr>
              <a:t>High accuracy did not necessarily mean better prediction quality. </a:t>
            </a:r>
            <a:endParaRPr lang="en-US" sz="1500">
              <a:solidFill>
                <a:schemeClr val="bg2">
                  <a:lumMod val="76000"/>
                </a:schemeClr>
              </a:solidFill>
              <a:cs typeface="Open Sans"/>
            </a:endParaRPr>
          </a:p>
          <a:p>
            <a:pPr marL="285750" indent="-285750">
              <a:buFont typeface="Arial"/>
              <a:buChar char="•"/>
            </a:pPr>
            <a:r>
              <a:rPr lang="en-US" sz="1500">
                <a:solidFill>
                  <a:schemeClr val="bg2">
                    <a:lumMod val="76000"/>
                  </a:schemeClr>
                </a:solidFill>
                <a:ea typeface="+mn-lt"/>
                <a:cs typeface="+mn-lt"/>
              </a:rPr>
              <a:t>Logistic Regression detected more defaulters than Random Forest. </a:t>
            </a:r>
            <a:endParaRPr lang="en-US" sz="1500">
              <a:solidFill>
                <a:schemeClr val="bg2">
                  <a:lumMod val="76000"/>
                </a:schemeClr>
              </a:solidFill>
              <a:cs typeface="Open Sans"/>
            </a:endParaRPr>
          </a:p>
          <a:p>
            <a:pPr marL="285750" indent="-285750">
              <a:buFont typeface="Arial"/>
              <a:buChar char="•"/>
            </a:pPr>
            <a:r>
              <a:rPr lang="en-US" sz="1500">
                <a:solidFill>
                  <a:schemeClr val="bg2">
                    <a:lumMod val="76000"/>
                  </a:schemeClr>
                </a:solidFill>
                <a:ea typeface="+mn-lt"/>
                <a:cs typeface="+mn-lt"/>
              </a:rPr>
              <a:t>Loan amount, interest rate, credit score, and loan term were among the most influential variables. </a:t>
            </a:r>
            <a:endParaRPr lang="en-US" sz="1500">
              <a:solidFill>
                <a:schemeClr val="bg2">
                  <a:lumMod val="76000"/>
                </a:schemeClr>
              </a:solidFill>
              <a:cs typeface="Open Sans"/>
            </a:endParaRPr>
          </a:p>
          <a:p>
            <a:pPr marL="285750" indent="-285750">
              <a:buFont typeface="Arial"/>
              <a:buChar char="•"/>
            </a:pPr>
            <a:r>
              <a:rPr lang="en-US" sz="1500">
                <a:solidFill>
                  <a:schemeClr val="bg2">
                    <a:lumMod val="76000"/>
                  </a:schemeClr>
                </a:solidFill>
                <a:ea typeface="+mn-lt"/>
                <a:cs typeface="+mn-lt"/>
              </a:rPr>
              <a:t>Proper model evaluation is important when working with financial risk prediction.</a:t>
            </a:r>
            <a:endParaRPr lang="en-US" sz="1500">
              <a:solidFill>
                <a:schemeClr val="bg2">
                  <a:lumMod val="76000"/>
                </a:schemeClr>
              </a:solidFill>
              <a:cs typeface="Open Sans"/>
            </a:endParaRPr>
          </a:p>
          <a:p>
            <a:pPr algn="l"/>
            <a:endParaRPr lang="en-US" sz="1600" dirty="0">
              <a:solidFill>
                <a:schemeClr val="bg2">
                  <a:lumMod val="76000"/>
                </a:schemeClr>
              </a:solidFill>
              <a:cs typeface="Open Sans"/>
            </a:endParaRPr>
          </a:p>
        </p:txBody>
      </p:sp>
      <p:sp>
        <p:nvSpPr>
          <p:cNvPr id="5" name="TextBox 4">
            <a:extLst>
              <a:ext uri="{FF2B5EF4-FFF2-40B4-BE49-F238E27FC236}">
                <a16:creationId xmlns:a16="http://schemas.microsoft.com/office/drawing/2014/main" id="{29AE55FB-B533-F406-5828-4887D5151A01}"/>
              </a:ext>
            </a:extLst>
          </p:cNvPr>
          <p:cNvSpPr txBox="1"/>
          <p:nvPr/>
        </p:nvSpPr>
        <p:spPr>
          <a:xfrm>
            <a:off x="3876619" y="3570402"/>
            <a:ext cx="5008787" cy="17081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chemeClr val="bg2">
                    <a:lumMod val="76000"/>
                  </a:schemeClr>
                </a:solidFill>
              </a:rPr>
              <a:t>What Was Learned:</a:t>
            </a:r>
            <a:endParaRPr lang="en-US" sz="1500" b="1">
              <a:solidFill>
                <a:schemeClr val="bg2">
                  <a:lumMod val="76000"/>
                </a:schemeClr>
              </a:solidFill>
              <a:cs typeface="Open Sans"/>
            </a:endParaRPr>
          </a:p>
          <a:p>
            <a:pPr marL="285750" indent="-285750">
              <a:buFont typeface="Arial"/>
              <a:buChar char="•"/>
            </a:pPr>
            <a:r>
              <a:rPr lang="en-US" sz="1500" dirty="0">
                <a:solidFill>
                  <a:schemeClr val="bg2">
                    <a:lumMod val="76000"/>
                  </a:schemeClr>
                </a:solidFill>
                <a:ea typeface="+mn-lt"/>
                <a:cs typeface="+mn-lt"/>
              </a:rPr>
              <a:t>Machine learning models can assist lenders in identifying risky borrowers. </a:t>
            </a:r>
            <a:endParaRPr lang="en-US" sz="1500">
              <a:solidFill>
                <a:schemeClr val="bg2">
                  <a:lumMod val="76000"/>
                </a:schemeClr>
              </a:solidFill>
              <a:cs typeface="Open Sans"/>
            </a:endParaRPr>
          </a:p>
          <a:p>
            <a:pPr marL="285750" indent="-285750">
              <a:buFont typeface="Arial"/>
              <a:buChar char="•"/>
            </a:pPr>
            <a:r>
              <a:rPr lang="en-US" sz="1500">
                <a:solidFill>
                  <a:schemeClr val="bg2">
                    <a:lumMod val="76000"/>
                  </a:schemeClr>
                </a:solidFill>
                <a:ea typeface="+mn-lt"/>
                <a:cs typeface="+mn-lt"/>
              </a:rPr>
              <a:t>Evaluation metrics such as recall and F1-score are important in classification problems involving imbalance.</a:t>
            </a:r>
            <a:endParaRPr lang="en-US" sz="1500">
              <a:solidFill>
                <a:schemeClr val="bg2">
                  <a:lumMod val="76000"/>
                </a:schemeClr>
              </a:solidFill>
              <a:cs typeface="Open Sans"/>
            </a:endParaRPr>
          </a:p>
          <a:p>
            <a:pPr algn="l"/>
            <a:endParaRPr lang="en-US" sz="1500" dirty="0">
              <a:cs typeface="Open Sans"/>
            </a:endParaRPr>
          </a:p>
        </p:txBody>
      </p:sp>
    </p:spTree>
    <p:extLst>
      <p:ext uri="{BB962C8B-B14F-4D97-AF65-F5344CB8AC3E}">
        <p14:creationId xmlns:p14="http://schemas.microsoft.com/office/powerpoint/2010/main" val="280798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5105B-B998-699D-A8B5-5C1254A54397}"/>
            </a:ext>
          </a:extLst>
        </p:cNvPr>
        <p:cNvGrpSpPr/>
        <p:nvPr/>
      </p:nvGrpSpPr>
      <p:grpSpPr>
        <a:xfrm>
          <a:off x="0" y="0"/>
          <a:ext cx="0" cy="0"/>
          <a:chOff x="0" y="0"/>
          <a:chExt cx="0" cy="0"/>
        </a:xfrm>
      </p:grpSpPr>
      <p:pic>
        <p:nvPicPr>
          <p:cNvPr id="98" name="图片 97">
            <a:extLst>
              <a:ext uri="{FF2B5EF4-FFF2-40B4-BE49-F238E27FC236}">
                <a16:creationId xmlns:a16="http://schemas.microsoft.com/office/drawing/2014/main" id="{7B6BC233-75F9-8897-DC6E-AAB8E69A20E7}"/>
              </a:ext>
            </a:extLst>
          </p:cNvPr>
          <p:cNvPicPr>
            <a:picLocks noChangeAspect="1"/>
          </p:cNvPicPr>
          <p:nvPr/>
        </p:nvPicPr>
        <p:blipFill rotWithShape="1">
          <a:blip r:embed="rId3"/>
          <a:srcRect t="11284" b="11844"/>
          <a:stretch>
            <a:fillRect/>
          </a:stretch>
        </p:blipFill>
        <p:spPr>
          <a:xfrm>
            <a:off x="83442" y="34651"/>
            <a:ext cx="5010912" cy="5143500"/>
          </a:xfrm>
          <a:prstGeom prst="rect">
            <a:avLst/>
          </a:prstGeom>
        </p:spPr>
      </p:pic>
      <p:sp>
        <p:nvSpPr>
          <p:cNvPr id="99" name="矩形 98">
            <a:extLst>
              <a:ext uri="{FF2B5EF4-FFF2-40B4-BE49-F238E27FC236}">
                <a16:creationId xmlns:a16="http://schemas.microsoft.com/office/drawing/2014/main" id="{7A52A5EF-C86C-F47A-2AAD-CC14CB3BE7C2}"/>
              </a:ext>
            </a:extLst>
          </p:cNvPr>
          <p:cNvSpPr/>
          <p:nvPr/>
        </p:nvSpPr>
        <p:spPr bwMode="auto">
          <a:xfrm>
            <a:off x="-168979" y="252437"/>
            <a:ext cx="3403600" cy="829945"/>
          </a:xfrm>
          <a:prstGeom prst="rect">
            <a:avLst/>
          </a:prstGeom>
          <a:noFill/>
          <a:ln>
            <a:noFill/>
          </a:ln>
        </p:spPr>
        <p:txBody>
          <a:bodyPr wrap="square" rtlCol="0">
            <a:spAutoFit/>
          </a:bodyPr>
          <a:lstStyle/>
          <a:p>
            <a:pPr algn="ctr" defTabSz="457200"/>
            <a:r>
              <a:rPr lang="zh-CN" altLang="en-US" sz="4800" b="1">
                <a:ln w="38100">
                  <a:noFill/>
                </a:ln>
                <a:gradFill>
                  <a:gsLst>
                    <a:gs pos="0">
                      <a:srgbClr val="FCC490"/>
                    </a:gs>
                    <a:gs pos="100000">
                      <a:srgbClr val="FCC896"/>
                    </a:gs>
                  </a:gsLst>
                  <a:lin ang="0" scaled="1"/>
                </a:gradFill>
                <a:latin typeface="+mj-ea"/>
                <a:ea typeface="+mj-ea"/>
                <a:cs typeface="Philosopher" panose="00000500000000000000" charset="0"/>
                <a:sym typeface="Open Sans" panose="020B0606030504020204" charset="0"/>
              </a:rPr>
              <a:t>CONTENTS</a:t>
            </a:r>
          </a:p>
        </p:txBody>
      </p:sp>
      <p:sp>
        <p:nvSpPr>
          <p:cNvPr id="57" name="文本框 56">
            <a:extLst>
              <a:ext uri="{FF2B5EF4-FFF2-40B4-BE49-F238E27FC236}">
                <a16:creationId xmlns:a16="http://schemas.microsoft.com/office/drawing/2014/main" id="{678EA8FB-7954-52FB-A666-5A5422D544CB}"/>
              </a:ext>
            </a:extLst>
          </p:cNvPr>
          <p:cNvSpPr txBox="1"/>
          <p:nvPr/>
        </p:nvSpPr>
        <p:spPr>
          <a:xfrm>
            <a:off x="-6510" y="3006"/>
            <a:ext cx="765162" cy="306705"/>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r>
              <a:rPr lang="en-US" altLang="zh-CN" sz="1400" spc="0">
                <a:solidFill>
                  <a:schemeClr val="tx1">
                    <a:lumMod val="65000"/>
                    <a:lumOff val="35000"/>
                  </a:schemeClr>
                </a:solidFill>
                <a:effectLst/>
                <a:cs typeface="Philosopher" panose="00000500000000000000" charset="0"/>
                <a:sym typeface="Open Sans" panose="020B0606030504020204" charset="0"/>
              </a:rPr>
              <a:t>VR</a:t>
            </a:r>
          </a:p>
        </p:txBody>
      </p:sp>
      <p:sp>
        <p:nvSpPr>
          <p:cNvPr id="7" name="TextBox 6">
            <a:extLst>
              <a:ext uri="{FF2B5EF4-FFF2-40B4-BE49-F238E27FC236}">
                <a16:creationId xmlns:a16="http://schemas.microsoft.com/office/drawing/2014/main" id="{475DD601-92F1-7654-91A6-C5315614090C}"/>
              </a:ext>
            </a:extLst>
          </p:cNvPr>
          <p:cNvSpPr txBox="1"/>
          <p:nvPr/>
        </p:nvSpPr>
        <p:spPr>
          <a:xfrm>
            <a:off x="86918" y="1495027"/>
            <a:ext cx="25640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02. Project Objectives</a:t>
            </a:r>
            <a:endParaRPr lang="en-US" dirty="0">
              <a:solidFill>
                <a:srgbClr val="FCC490"/>
              </a:solidFill>
              <a:latin typeface="Philosopher"/>
            </a:endParaRPr>
          </a:p>
          <a:p>
            <a:pPr algn="ctr"/>
            <a:endParaRPr lang="en-US"/>
          </a:p>
        </p:txBody>
      </p:sp>
      <p:sp>
        <p:nvSpPr>
          <p:cNvPr id="9" name="TextBox 8">
            <a:extLst>
              <a:ext uri="{FF2B5EF4-FFF2-40B4-BE49-F238E27FC236}">
                <a16:creationId xmlns:a16="http://schemas.microsoft.com/office/drawing/2014/main" id="{5C572995-5BAB-5C72-BFC0-1CC16D1B4361}"/>
              </a:ext>
            </a:extLst>
          </p:cNvPr>
          <p:cNvSpPr txBox="1"/>
          <p:nvPr/>
        </p:nvSpPr>
        <p:spPr>
          <a:xfrm>
            <a:off x="86918" y="192484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03. Dataset Description</a:t>
            </a:r>
            <a:endParaRPr lang="en-US" dirty="0">
              <a:solidFill>
                <a:srgbClr val="FCC490"/>
              </a:solidFill>
              <a:latin typeface="Philosopher"/>
            </a:endParaRPr>
          </a:p>
          <a:p>
            <a:pPr algn="ctr"/>
            <a:endParaRPr lang="en-US"/>
          </a:p>
        </p:txBody>
      </p:sp>
      <p:sp>
        <p:nvSpPr>
          <p:cNvPr id="10" name="TextBox 9">
            <a:extLst>
              <a:ext uri="{FF2B5EF4-FFF2-40B4-BE49-F238E27FC236}">
                <a16:creationId xmlns:a16="http://schemas.microsoft.com/office/drawing/2014/main" id="{18EF22C9-957C-5681-0F43-E66CEAED7198}"/>
              </a:ext>
            </a:extLst>
          </p:cNvPr>
          <p:cNvSpPr txBox="1"/>
          <p:nvPr/>
        </p:nvSpPr>
        <p:spPr>
          <a:xfrm>
            <a:off x="86918" y="238878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04. Data Processing</a:t>
            </a:r>
            <a:endParaRPr lang="en-US" dirty="0">
              <a:solidFill>
                <a:srgbClr val="FCC490"/>
              </a:solidFill>
              <a:latin typeface="Philosopher"/>
            </a:endParaRPr>
          </a:p>
          <a:p>
            <a:pPr algn="ctr"/>
            <a:endParaRPr lang="en-US"/>
          </a:p>
        </p:txBody>
      </p:sp>
      <p:sp>
        <p:nvSpPr>
          <p:cNvPr id="11" name="TextBox 10">
            <a:extLst>
              <a:ext uri="{FF2B5EF4-FFF2-40B4-BE49-F238E27FC236}">
                <a16:creationId xmlns:a16="http://schemas.microsoft.com/office/drawing/2014/main" id="{55945467-CEF7-34DD-4C0C-04D52BD3A03C}"/>
              </a:ext>
            </a:extLst>
          </p:cNvPr>
          <p:cNvSpPr txBox="1"/>
          <p:nvPr/>
        </p:nvSpPr>
        <p:spPr>
          <a:xfrm>
            <a:off x="86918" y="2818885"/>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05. Machine Learning Model</a:t>
            </a:r>
            <a:endParaRPr lang="en-US" dirty="0">
              <a:solidFill>
                <a:srgbClr val="FCC490"/>
              </a:solidFill>
              <a:latin typeface="Philosopher"/>
            </a:endParaRPr>
          </a:p>
          <a:p>
            <a:pPr algn="ctr"/>
            <a:endParaRPr lang="en-US"/>
          </a:p>
        </p:txBody>
      </p:sp>
      <p:sp>
        <p:nvSpPr>
          <p:cNvPr id="12" name="TextBox 11">
            <a:extLst>
              <a:ext uri="{FF2B5EF4-FFF2-40B4-BE49-F238E27FC236}">
                <a16:creationId xmlns:a16="http://schemas.microsoft.com/office/drawing/2014/main" id="{BCEAE3F3-7346-E90B-14B8-16BCDED26A89}"/>
              </a:ext>
            </a:extLst>
          </p:cNvPr>
          <p:cNvSpPr txBox="1"/>
          <p:nvPr/>
        </p:nvSpPr>
        <p:spPr>
          <a:xfrm>
            <a:off x="86918" y="3243649"/>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06. Model </a:t>
            </a:r>
            <a:r>
              <a:rPr lang="en-US" dirty="0" err="1">
                <a:solidFill>
                  <a:srgbClr val="FCC490"/>
                </a:solidFill>
                <a:latin typeface="Philosopher"/>
              </a:rPr>
              <a:t>Evaluat</a:t>
            </a:r>
            <a:r>
              <a:rPr lang="en-US" dirty="0">
                <a:solidFill>
                  <a:srgbClr val="FCC490"/>
                </a:solidFill>
                <a:latin typeface="Philosopher"/>
              </a:rPr>
              <a:t>ion</a:t>
            </a:r>
          </a:p>
          <a:p>
            <a:pPr algn="ctr"/>
            <a:endParaRPr lang="en-US"/>
          </a:p>
        </p:txBody>
      </p:sp>
      <p:sp>
        <p:nvSpPr>
          <p:cNvPr id="13" name="TextBox 12">
            <a:extLst>
              <a:ext uri="{FF2B5EF4-FFF2-40B4-BE49-F238E27FC236}">
                <a16:creationId xmlns:a16="http://schemas.microsoft.com/office/drawing/2014/main" id="{126349BD-8232-7896-E1C4-4318FD393131}"/>
              </a:ext>
            </a:extLst>
          </p:cNvPr>
          <p:cNvSpPr txBox="1"/>
          <p:nvPr/>
        </p:nvSpPr>
        <p:spPr>
          <a:xfrm>
            <a:off x="86918" y="3678803"/>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07. Key Findings</a:t>
            </a:r>
            <a:endParaRPr lang="en-US" dirty="0">
              <a:solidFill>
                <a:srgbClr val="FCC490"/>
              </a:solidFill>
              <a:latin typeface="Philosopher"/>
            </a:endParaRPr>
          </a:p>
          <a:p>
            <a:pPr algn="ctr"/>
            <a:endParaRPr lang="en-US"/>
          </a:p>
        </p:txBody>
      </p:sp>
      <p:sp>
        <p:nvSpPr>
          <p:cNvPr id="14" name="TextBox 13">
            <a:extLst>
              <a:ext uri="{FF2B5EF4-FFF2-40B4-BE49-F238E27FC236}">
                <a16:creationId xmlns:a16="http://schemas.microsoft.com/office/drawing/2014/main" id="{3E1CB88E-BE67-85AB-EA15-C8B7357546C2}"/>
              </a:ext>
            </a:extLst>
          </p:cNvPr>
          <p:cNvSpPr txBox="1"/>
          <p:nvPr/>
        </p:nvSpPr>
        <p:spPr>
          <a:xfrm>
            <a:off x="86918" y="1083042"/>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01. Introduction &amp; Problem Statement</a:t>
            </a:r>
            <a:endParaRPr lang="en-US" dirty="0">
              <a:solidFill>
                <a:srgbClr val="FCC490"/>
              </a:solidFill>
              <a:latin typeface="Philosopher"/>
            </a:endParaRPr>
          </a:p>
          <a:p>
            <a:pPr algn="ctr"/>
            <a:endParaRPr lang="en-US"/>
          </a:p>
        </p:txBody>
      </p:sp>
      <p:sp>
        <p:nvSpPr>
          <p:cNvPr id="17" name="TextBox 16">
            <a:extLst>
              <a:ext uri="{FF2B5EF4-FFF2-40B4-BE49-F238E27FC236}">
                <a16:creationId xmlns:a16="http://schemas.microsoft.com/office/drawing/2014/main" id="{4E8345F8-4B87-CF99-7838-174560B1ED14}"/>
              </a:ext>
            </a:extLst>
          </p:cNvPr>
          <p:cNvSpPr txBox="1"/>
          <p:nvPr/>
        </p:nvSpPr>
        <p:spPr>
          <a:xfrm>
            <a:off x="83127" y="3860222"/>
            <a:ext cx="457200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rgbClr val="FCC490"/>
              </a:solidFill>
              <a:latin typeface="Philosopher"/>
            </a:endParaRPr>
          </a:p>
          <a:p>
            <a:r>
              <a:rPr lang="en-US" sz="2400">
                <a:solidFill>
                  <a:srgbClr val="FCC490"/>
                </a:solidFill>
                <a:latin typeface="Philosopher"/>
              </a:rPr>
              <a:t>08. Challenges</a:t>
            </a:r>
            <a:r>
              <a:rPr lang="en-US" sz="2400" dirty="0">
                <a:solidFill>
                  <a:srgbClr val="FCC490"/>
                </a:solidFill>
                <a:latin typeface="Philosopher"/>
              </a:rPr>
              <a:t> Encountered</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a:cs typeface="Open Sans"/>
            </a:endParaRPr>
          </a:p>
          <a:p>
            <a:pPr algn="ctr"/>
            <a:endParaRPr lang="en-US"/>
          </a:p>
        </p:txBody>
      </p:sp>
      <p:sp>
        <p:nvSpPr>
          <p:cNvPr id="18" name="TextBox 17">
            <a:extLst>
              <a:ext uri="{FF2B5EF4-FFF2-40B4-BE49-F238E27FC236}">
                <a16:creationId xmlns:a16="http://schemas.microsoft.com/office/drawing/2014/main" id="{DD09F51D-1BEC-B5F6-A2A6-FBD75ABA707F}"/>
              </a:ext>
            </a:extLst>
          </p:cNvPr>
          <p:cNvSpPr txBox="1"/>
          <p:nvPr/>
        </p:nvSpPr>
        <p:spPr>
          <a:xfrm>
            <a:off x="83126" y="4494068"/>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09. Conclusion &amp; Recommendati</a:t>
            </a:r>
            <a:r>
              <a:rPr lang="en-US" dirty="0">
                <a:solidFill>
                  <a:srgbClr val="FCC490"/>
                </a:solidFill>
                <a:latin typeface="Philosopher"/>
              </a:rPr>
              <a:t>ons</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dirty="0"/>
          </a:p>
          <a:p>
            <a:pPr algn="ctr"/>
            <a:endParaRPr lang="en-US"/>
          </a:p>
        </p:txBody>
      </p:sp>
      <p:sp>
        <p:nvSpPr>
          <p:cNvPr id="2" name="TextBox 1">
            <a:extLst>
              <a:ext uri="{FF2B5EF4-FFF2-40B4-BE49-F238E27FC236}">
                <a16:creationId xmlns:a16="http://schemas.microsoft.com/office/drawing/2014/main" id="{2C9E18C1-504B-7752-525A-9B3E8CF4D2EA}"/>
              </a:ext>
            </a:extLst>
          </p:cNvPr>
          <p:cNvSpPr txBox="1"/>
          <p:nvPr/>
        </p:nvSpPr>
        <p:spPr>
          <a:xfrm>
            <a:off x="4039920" y="306274"/>
            <a:ext cx="510063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chemeClr val="bg2">
                    <a:lumMod val="76000"/>
                  </a:schemeClr>
                </a:solidFill>
                <a:ea typeface="+mn-lt"/>
                <a:cs typeface="+mn-lt"/>
              </a:rPr>
              <a:t>Several challenges were encountered during the implementation and evaluation of the machine learning models.</a:t>
            </a:r>
            <a:endParaRPr lang="en-US" sz="1600">
              <a:solidFill>
                <a:schemeClr val="bg2">
                  <a:lumMod val="76000"/>
                </a:schemeClr>
              </a:solidFill>
              <a:cs typeface="Open Sans"/>
            </a:endParaRPr>
          </a:p>
        </p:txBody>
      </p:sp>
      <p:sp>
        <p:nvSpPr>
          <p:cNvPr id="3" name="TextBox 2">
            <a:extLst>
              <a:ext uri="{FF2B5EF4-FFF2-40B4-BE49-F238E27FC236}">
                <a16:creationId xmlns:a16="http://schemas.microsoft.com/office/drawing/2014/main" id="{AD89737B-9CCA-3A5A-DC1C-477F0E41EDA7}"/>
              </a:ext>
            </a:extLst>
          </p:cNvPr>
          <p:cNvSpPr txBox="1"/>
          <p:nvPr/>
        </p:nvSpPr>
        <p:spPr>
          <a:xfrm>
            <a:off x="4041321" y="1112384"/>
            <a:ext cx="4572000"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bg2">
                    <a:lumMod val="76000"/>
                  </a:schemeClr>
                </a:solidFill>
              </a:rPr>
              <a:t>Challenges:</a:t>
            </a:r>
            <a:endParaRPr lang="en-US" sz="1600" b="1">
              <a:solidFill>
                <a:schemeClr val="bg2">
                  <a:lumMod val="76000"/>
                </a:schemeClr>
              </a:solidFill>
              <a:cs typeface="Open Sans"/>
            </a:endParaRPr>
          </a:p>
          <a:p>
            <a:pPr>
              <a:buFont typeface=""/>
              <a:buChar char="•"/>
            </a:pPr>
            <a:r>
              <a:rPr lang="en-US" sz="1600">
                <a:solidFill>
                  <a:schemeClr val="bg2">
                    <a:lumMod val="76000"/>
                  </a:schemeClr>
                </a:solidFill>
              </a:rPr>
              <a:t>The dataset was imbalanced, with more non-defaulters than defaulters. </a:t>
            </a:r>
            <a:endParaRPr lang="en-US" sz="1600" dirty="0">
              <a:solidFill>
                <a:schemeClr val="bg2">
                  <a:lumMod val="76000"/>
                </a:schemeClr>
              </a:solidFill>
              <a:cs typeface="Open Sans"/>
            </a:endParaRPr>
          </a:p>
          <a:p>
            <a:pPr>
              <a:buFont typeface=""/>
              <a:buChar char="•"/>
            </a:pPr>
            <a:r>
              <a:rPr lang="en-US" sz="1600">
                <a:solidFill>
                  <a:schemeClr val="bg2">
                    <a:lumMod val="76000"/>
                  </a:schemeClr>
                </a:solidFill>
              </a:rPr>
              <a:t>Some models favored the majority class during prediction. </a:t>
            </a:r>
            <a:endParaRPr lang="en-US" sz="1600" dirty="0">
              <a:solidFill>
                <a:schemeClr val="bg2">
                  <a:lumMod val="76000"/>
                </a:schemeClr>
              </a:solidFill>
              <a:cs typeface="Open Sans"/>
            </a:endParaRPr>
          </a:p>
          <a:p>
            <a:pPr>
              <a:buFont typeface=""/>
              <a:buChar char="•"/>
            </a:pPr>
            <a:r>
              <a:rPr lang="en-US" sz="1600">
                <a:solidFill>
                  <a:schemeClr val="bg2">
                    <a:lumMod val="76000"/>
                  </a:schemeClr>
                </a:solidFill>
              </a:rPr>
              <a:t>Understanding and interpreting machine learning concepts was initially difficult. </a:t>
            </a:r>
            <a:endParaRPr lang="en-US" sz="1600" dirty="0">
              <a:solidFill>
                <a:schemeClr val="bg2">
                  <a:lumMod val="76000"/>
                </a:schemeClr>
              </a:solidFill>
              <a:cs typeface="Open Sans"/>
            </a:endParaRPr>
          </a:p>
          <a:p>
            <a:pPr>
              <a:buFont typeface=""/>
              <a:buChar char="•"/>
            </a:pPr>
            <a:r>
              <a:rPr lang="en-US" sz="1600">
                <a:solidFill>
                  <a:schemeClr val="bg2">
                    <a:lumMod val="76000"/>
                  </a:schemeClr>
                </a:solidFill>
              </a:rPr>
              <a:t>Data preprocessing and model tuning required multiple adjustments.</a:t>
            </a:r>
            <a:endParaRPr lang="en-US" sz="1600" dirty="0">
              <a:solidFill>
                <a:schemeClr val="bg2">
                  <a:lumMod val="76000"/>
                </a:schemeClr>
              </a:solidFill>
              <a:cs typeface="Open Sans"/>
            </a:endParaRPr>
          </a:p>
          <a:p>
            <a:pPr algn="ctr"/>
            <a:endParaRPr lang="en-US" sz="1600" dirty="0">
              <a:solidFill>
                <a:schemeClr val="bg2">
                  <a:lumMod val="76000"/>
                </a:schemeClr>
              </a:solidFill>
              <a:cs typeface="Open Sans"/>
            </a:endParaRPr>
          </a:p>
        </p:txBody>
      </p:sp>
      <p:sp>
        <p:nvSpPr>
          <p:cNvPr id="4" name="TextBox 3">
            <a:extLst>
              <a:ext uri="{FF2B5EF4-FFF2-40B4-BE49-F238E27FC236}">
                <a16:creationId xmlns:a16="http://schemas.microsoft.com/office/drawing/2014/main" id="{7DCDB8BA-A838-4A25-EB41-281E1A8E3491}"/>
              </a:ext>
            </a:extLst>
          </p:cNvPr>
          <p:cNvSpPr txBox="1"/>
          <p:nvPr/>
        </p:nvSpPr>
        <p:spPr>
          <a:xfrm>
            <a:off x="4041321" y="3326947"/>
            <a:ext cx="4572000"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bg2">
                    <a:lumMod val="76000"/>
                  </a:schemeClr>
                </a:solidFill>
              </a:rPr>
              <a:t>Impact of These Challenges:</a:t>
            </a:r>
            <a:endParaRPr lang="en-US" sz="1600" b="1">
              <a:solidFill>
                <a:schemeClr val="bg2">
                  <a:lumMod val="76000"/>
                </a:schemeClr>
              </a:solidFill>
              <a:cs typeface="Open Sans"/>
            </a:endParaRPr>
          </a:p>
          <a:p>
            <a:pPr>
              <a:buFont typeface=""/>
              <a:buChar char="•"/>
            </a:pPr>
            <a:r>
              <a:rPr lang="en-US" sz="1600">
                <a:solidFill>
                  <a:schemeClr val="bg2">
                    <a:lumMod val="76000"/>
                  </a:schemeClr>
                </a:solidFill>
              </a:rPr>
              <a:t>Reduced prediction effectiveness for default cases. </a:t>
            </a:r>
            <a:endParaRPr lang="en-US" sz="1600" dirty="0">
              <a:solidFill>
                <a:schemeClr val="bg2">
                  <a:lumMod val="76000"/>
                </a:schemeClr>
              </a:solidFill>
              <a:cs typeface="Open Sans"/>
            </a:endParaRPr>
          </a:p>
          <a:p>
            <a:pPr>
              <a:buFont typeface=""/>
              <a:buChar char="•"/>
            </a:pPr>
            <a:r>
              <a:rPr lang="en-US" sz="1600">
                <a:solidFill>
                  <a:schemeClr val="bg2">
                    <a:lumMod val="76000"/>
                  </a:schemeClr>
                </a:solidFill>
              </a:rPr>
              <a:t>Made model evaluation more complex. </a:t>
            </a:r>
            <a:endParaRPr lang="en-US" sz="1600" dirty="0">
              <a:solidFill>
                <a:schemeClr val="bg2">
                  <a:lumMod val="76000"/>
                </a:schemeClr>
              </a:solidFill>
              <a:cs typeface="Open Sans"/>
            </a:endParaRPr>
          </a:p>
          <a:p>
            <a:pPr>
              <a:buFont typeface=""/>
              <a:buChar char="•"/>
            </a:pPr>
            <a:r>
              <a:rPr lang="en-US" sz="1600">
                <a:solidFill>
                  <a:schemeClr val="bg2">
                    <a:lumMod val="76000"/>
                  </a:schemeClr>
                </a:solidFill>
              </a:rPr>
              <a:t>Required deeper analysis beyond accuracy scores.</a:t>
            </a:r>
            <a:endParaRPr lang="en-US" sz="1600" dirty="0">
              <a:solidFill>
                <a:schemeClr val="bg2">
                  <a:lumMod val="76000"/>
                </a:schemeClr>
              </a:solidFill>
              <a:cs typeface="Open Sans"/>
            </a:endParaRPr>
          </a:p>
          <a:p>
            <a:pPr algn="ctr"/>
            <a:endParaRPr lang="en-US" sz="1600" dirty="0">
              <a:solidFill>
                <a:schemeClr val="bg2">
                  <a:lumMod val="76000"/>
                </a:schemeClr>
              </a:solidFill>
              <a:cs typeface="Open Sans"/>
            </a:endParaRPr>
          </a:p>
        </p:txBody>
      </p:sp>
    </p:spTree>
    <p:extLst>
      <p:ext uri="{BB962C8B-B14F-4D97-AF65-F5344CB8AC3E}">
        <p14:creationId xmlns:p14="http://schemas.microsoft.com/office/powerpoint/2010/main" val="222467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 grpId="0"/>
      <p:bldP spid="3"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43A94-367E-5621-013C-E3F3F4DFD513}"/>
            </a:ext>
          </a:extLst>
        </p:cNvPr>
        <p:cNvGrpSpPr/>
        <p:nvPr/>
      </p:nvGrpSpPr>
      <p:grpSpPr>
        <a:xfrm>
          <a:off x="0" y="0"/>
          <a:ext cx="0" cy="0"/>
          <a:chOff x="0" y="0"/>
          <a:chExt cx="0" cy="0"/>
        </a:xfrm>
      </p:grpSpPr>
      <p:pic>
        <p:nvPicPr>
          <p:cNvPr id="98" name="图片 97">
            <a:extLst>
              <a:ext uri="{FF2B5EF4-FFF2-40B4-BE49-F238E27FC236}">
                <a16:creationId xmlns:a16="http://schemas.microsoft.com/office/drawing/2014/main" id="{7C0306A0-3111-4D50-70AB-70765F6915DF}"/>
              </a:ext>
            </a:extLst>
          </p:cNvPr>
          <p:cNvPicPr>
            <a:picLocks noChangeAspect="1"/>
          </p:cNvPicPr>
          <p:nvPr/>
        </p:nvPicPr>
        <p:blipFill rotWithShape="1">
          <a:blip r:embed="rId3"/>
          <a:srcRect t="11284" b="11844"/>
          <a:stretch>
            <a:fillRect/>
          </a:stretch>
        </p:blipFill>
        <p:spPr>
          <a:xfrm>
            <a:off x="83442" y="34651"/>
            <a:ext cx="5010912" cy="5143500"/>
          </a:xfrm>
          <a:prstGeom prst="rect">
            <a:avLst/>
          </a:prstGeom>
        </p:spPr>
      </p:pic>
      <p:sp>
        <p:nvSpPr>
          <p:cNvPr id="99" name="矩形 98">
            <a:extLst>
              <a:ext uri="{FF2B5EF4-FFF2-40B4-BE49-F238E27FC236}">
                <a16:creationId xmlns:a16="http://schemas.microsoft.com/office/drawing/2014/main" id="{0DD94A35-842C-84C8-34F1-20743662737E}"/>
              </a:ext>
            </a:extLst>
          </p:cNvPr>
          <p:cNvSpPr/>
          <p:nvPr/>
        </p:nvSpPr>
        <p:spPr bwMode="auto">
          <a:xfrm>
            <a:off x="-168979" y="252437"/>
            <a:ext cx="3403600" cy="829945"/>
          </a:xfrm>
          <a:prstGeom prst="rect">
            <a:avLst/>
          </a:prstGeom>
          <a:noFill/>
          <a:ln>
            <a:noFill/>
          </a:ln>
        </p:spPr>
        <p:txBody>
          <a:bodyPr wrap="square" rtlCol="0">
            <a:spAutoFit/>
          </a:bodyPr>
          <a:lstStyle/>
          <a:p>
            <a:pPr algn="ctr" defTabSz="457200"/>
            <a:r>
              <a:rPr lang="zh-CN" altLang="en-US" sz="4800" b="1">
                <a:ln w="38100">
                  <a:noFill/>
                </a:ln>
                <a:gradFill>
                  <a:gsLst>
                    <a:gs pos="0">
                      <a:srgbClr val="FCC490"/>
                    </a:gs>
                    <a:gs pos="100000">
                      <a:srgbClr val="FCC896"/>
                    </a:gs>
                  </a:gsLst>
                  <a:lin ang="0" scaled="1"/>
                </a:gradFill>
                <a:latin typeface="+mj-ea"/>
                <a:ea typeface="+mj-ea"/>
                <a:cs typeface="Philosopher" panose="00000500000000000000" charset="0"/>
                <a:sym typeface="Open Sans" panose="020B0606030504020204" charset="0"/>
              </a:rPr>
              <a:t>CONTENTS</a:t>
            </a:r>
          </a:p>
        </p:txBody>
      </p:sp>
      <p:sp>
        <p:nvSpPr>
          <p:cNvPr id="57" name="文本框 56">
            <a:extLst>
              <a:ext uri="{FF2B5EF4-FFF2-40B4-BE49-F238E27FC236}">
                <a16:creationId xmlns:a16="http://schemas.microsoft.com/office/drawing/2014/main" id="{CAA2A7F8-E0AB-351A-3A6A-8E755654D3EE}"/>
              </a:ext>
            </a:extLst>
          </p:cNvPr>
          <p:cNvSpPr txBox="1"/>
          <p:nvPr/>
        </p:nvSpPr>
        <p:spPr>
          <a:xfrm>
            <a:off x="-6510" y="3006"/>
            <a:ext cx="765162" cy="306705"/>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r>
              <a:rPr lang="en-US" altLang="zh-CN" sz="1400" spc="0">
                <a:solidFill>
                  <a:schemeClr val="tx1">
                    <a:lumMod val="65000"/>
                    <a:lumOff val="35000"/>
                  </a:schemeClr>
                </a:solidFill>
                <a:effectLst/>
                <a:cs typeface="Philosopher" panose="00000500000000000000" charset="0"/>
                <a:sym typeface="Open Sans" panose="020B0606030504020204" charset="0"/>
              </a:rPr>
              <a:t>VR</a:t>
            </a:r>
          </a:p>
        </p:txBody>
      </p:sp>
      <p:sp>
        <p:nvSpPr>
          <p:cNvPr id="7" name="TextBox 6">
            <a:extLst>
              <a:ext uri="{FF2B5EF4-FFF2-40B4-BE49-F238E27FC236}">
                <a16:creationId xmlns:a16="http://schemas.microsoft.com/office/drawing/2014/main" id="{F5F4416E-4FAA-FD8C-148D-69D106DD2E1A}"/>
              </a:ext>
            </a:extLst>
          </p:cNvPr>
          <p:cNvSpPr txBox="1"/>
          <p:nvPr/>
        </p:nvSpPr>
        <p:spPr>
          <a:xfrm>
            <a:off x="86918" y="1495027"/>
            <a:ext cx="25640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02. Project Objectives</a:t>
            </a:r>
            <a:endParaRPr lang="en-US" dirty="0">
              <a:solidFill>
                <a:srgbClr val="FCC490"/>
              </a:solidFill>
              <a:latin typeface="Philosopher"/>
            </a:endParaRPr>
          </a:p>
          <a:p>
            <a:pPr algn="ctr"/>
            <a:endParaRPr lang="en-US"/>
          </a:p>
        </p:txBody>
      </p:sp>
      <p:sp>
        <p:nvSpPr>
          <p:cNvPr id="9" name="TextBox 8">
            <a:extLst>
              <a:ext uri="{FF2B5EF4-FFF2-40B4-BE49-F238E27FC236}">
                <a16:creationId xmlns:a16="http://schemas.microsoft.com/office/drawing/2014/main" id="{5422DE85-7CD5-1BD4-AFEF-EC1E32278000}"/>
              </a:ext>
            </a:extLst>
          </p:cNvPr>
          <p:cNvSpPr txBox="1"/>
          <p:nvPr/>
        </p:nvSpPr>
        <p:spPr>
          <a:xfrm>
            <a:off x="86918" y="192484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03. Dataset Description</a:t>
            </a:r>
            <a:endParaRPr lang="en-US" dirty="0">
              <a:solidFill>
                <a:srgbClr val="FCC490"/>
              </a:solidFill>
              <a:latin typeface="Philosopher"/>
            </a:endParaRPr>
          </a:p>
          <a:p>
            <a:pPr algn="ctr"/>
            <a:endParaRPr lang="en-US"/>
          </a:p>
        </p:txBody>
      </p:sp>
      <p:sp>
        <p:nvSpPr>
          <p:cNvPr id="10" name="TextBox 9">
            <a:extLst>
              <a:ext uri="{FF2B5EF4-FFF2-40B4-BE49-F238E27FC236}">
                <a16:creationId xmlns:a16="http://schemas.microsoft.com/office/drawing/2014/main" id="{CE90DA8C-2CC8-6BD8-E905-1BA76B1E280D}"/>
              </a:ext>
            </a:extLst>
          </p:cNvPr>
          <p:cNvSpPr txBox="1"/>
          <p:nvPr/>
        </p:nvSpPr>
        <p:spPr>
          <a:xfrm>
            <a:off x="86918" y="238878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04. Data Processing</a:t>
            </a:r>
            <a:endParaRPr lang="en-US" dirty="0">
              <a:solidFill>
                <a:srgbClr val="FCC490"/>
              </a:solidFill>
              <a:latin typeface="Philosopher"/>
            </a:endParaRPr>
          </a:p>
          <a:p>
            <a:pPr algn="ctr"/>
            <a:endParaRPr lang="en-US"/>
          </a:p>
        </p:txBody>
      </p:sp>
      <p:sp>
        <p:nvSpPr>
          <p:cNvPr id="11" name="TextBox 10">
            <a:extLst>
              <a:ext uri="{FF2B5EF4-FFF2-40B4-BE49-F238E27FC236}">
                <a16:creationId xmlns:a16="http://schemas.microsoft.com/office/drawing/2014/main" id="{4BEEEB33-D98B-CA21-DA92-CFC26FB3EA1F}"/>
              </a:ext>
            </a:extLst>
          </p:cNvPr>
          <p:cNvSpPr txBox="1"/>
          <p:nvPr/>
        </p:nvSpPr>
        <p:spPr>
          <a:xfrm>
            <a:off x="86918" y="2818885"/>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05. Machine Learning Model</a:t>
            </a:r>
            <a:endParaRPr lang="en-US" dirty="0">
              <a:solidFill>
                <a:srgbClr val="FCC490"/>
              </a:solidFill>
              <a:latin typeface="Philosopher"/>
            </a:endParaRPr>
          </a:p>
          <a:p>
            <a:pPr algn="ctr"/>
            <a:endParaRPr lang="en-US"/>
          </a:p>
        </p:txBody>
      </p:sp>
      <p:sp>
        <p:nvSpPr>
          <p:cNvPr id="12" name="TextBox 11">
            <a:extLst>
              <a:ext uri="{FF2B5EF4-FFF2-40B4-BE49-F238E27FC236}">
                <a16:creationId xmlns:a16="http://schemas.microsoft.com/office/drawing/2014/main" id="{F11AE329-CC30-8F5C-AEE4-BC6E93232492}"/>
              </a:ext>
            </a:extLst>
          </p:cNvPr>
          <p:cNvSpPr txBox="1"/>
          <p:nvPr/>
        </p:nvSpPr>
        <p:spPr>
          <a:xfrm>
            <a:off x="86918" y="3243649"/>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06. Model </a:t>
            </a:r>
            <a:r>
              <a:rPr lang="en-US" dirty="0" err="1">
                <a:solidFill>
                  <a:srgbClr val="FCC490"/>
                </a:solidFill>
                <a:latin typeface="Philosopher"/>
              </a:rPr>
              <a:t>Evaluat</a:t>
            </a:r>
            <a:r>
              <a:rPr lang="en-US" dirty="0">
                <a:solidFill>
                  <a:srgbClr val="FCC490"/>
                </a:solidFill>
                <a:latin typeface="Philosopher"/>
              </a:rPr>
              <a:t>ion</a:t>
            </a:r>
          </a:p>
          <a:p>
            <a:pPr algn="ctr"/>
            <a:endParaRPr lang="en-US"/>
          </a:p>
        </p:txBody>
      </p:sp>
      <p:sp>
        <p:nvSpPr>
          <p:cNvPr id="13" name="TextBox 12">
            <a:extLst>
              <a:ext uri="{FF2B5EF4-FFF2-40B4-BE49-F238E27FC236}">
                <a16:creationId xmlns:a16="http://schemas.microsoft.com/office/drawing/2014/main" id="{E30C6FCF-6D06-31BC-2D98-BDD709E07881}"/>
              </a:ext>
            </a:extLst>
          </p:cNvPr>
          <p:cNvSpPr txBox="1"/>
          <p:nvPr/>
        </p:nvSpPr>
        <p:spPr>
          <a:xfrm>
            <a:off x="86918" y="3678803"/>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07. Key Findings</a:t>
            </a:r>
            <a:endParaRPr lang="en-US" dirty="0">
              <a:solidFill>
                <a:srgbClr val="FCC490"/>
              </a:solidFill>
              <a:latin typeface="Philosopher"/>
            </a:endParaRPr>
          </a:p>
          <a:p>
            <a:pPr algn="ctr"/>
            <a:endParaRPr lang="en-US"/>
          </a:p>
        </p:txBody>
      </p:sp>
      <p:sp>
        <p:nvSpPr>
          <p:cNvPr id="14" name="TextBox 13">
            <a:extLst>
              <a:ext uri="{FF2B5EF4-FFF2-40B4-BE49-F238E27FC236}">
                <a16:creationId xmlns:a16="http://schemas.microsoft.com/office/drawing/2014/main" id="{A31B013F-B309-5D61-489F-6E2ADECCE7DA}"/>
              </a:ext>
            </a:extLst>
          </p:cNvPr>
          <p:cNvSpPr txBox="1"/>
          <p:nvPr/>
        </p:nvSpPr>
        <p:spPr>
          <a:xfrm>
            <a:off x="86918" y="1083042"/>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01. Introduction &amp; Problem Statement</a:t>
            </a:r>
            <a:endParaRPr lang="en-US" dirty="0">
              <a:solidFill>
                <a:srgbClr val="FCC490"/>
              </a:solidFill>
              <a:latin typeface="Philosopher"/>
            </a:endParaRPr>
          </a:p>
          <a:p>
            <a:pPr algn="ctr"/>
            <a:endParaRPr lang="en-US"/>
          </a:p>
        </p:txBody>
      </p:sp>
      <p:sp>
        <p:nvSpPr>
          <p:cNvPr id="17" name="TextBox 16">
            <a:extLst>
              <a:ext uri="{FF2B5EF4-FFF2-40B4-BE49-F238E27FC236}">
                <a16:creationId xmlns:a16="http://schemas.microsoft.com/office/drawing/2014/main" id="{262661D7-DC65-1A4E-8B8B-C011B7261878}"/>
              </a:ext>
            </a:extLst>
          </p:cNvPr>
          <p:cNvSpPr txBox="1"/>
          <p:nvPr/>
        </p:nvSpPr>
        <p:spPr>
          <a:xfrm>
            <a:off x="83127" y="3860222"/>
            <a:ext cx="4572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rgbClr val="FCC490"/>
              </a:solidFill>
              <a:latin typeface="Philosopher"/>
            </a:endParaRPr>
          </a:p>
          <a:p>
            <a:r>
              <a:rPr lang="en-US">
                <a:solidFill>
                  <a:srgbClr val="FCC490"/>
                </a:solidFill>
                <a:latin typeface="Philosopher"/>
              </a:rPr>
              <a:t>08. Challenges</a:t>
            </a:r>
            <a:r>
              <a:rPr lang="en-US" dirty="0">
                <a:solidFill>
                  <a:srgbClr val="FCC490"/>
                </a:solidFill>
                <a:latin typeface="Philosopher"/>
              </a:rPr>
              <a:t> Encountered</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a:cs typeface="Open Sans"/>
            </a:endParaRPr>
          </a:p>
          <a:p>
            <a:pPr algn="ctr"/>
            <a:endParaRPr lang="en-US"/>
          </a:p>
        </p:txBody>
      </p:sp>
      <p:sp>
        <p:nvSpPr>
          <p:cNvPr id="18" name="TextBox 17">
            <a:extLst>
              <a:ext uri="{FF2B5EF4-FFF2-40B4-BE49-F238E27FC236}">
                <a16:creationId xmlns:a16="http://schemas.microsoft.com/office/drawing/2014/main" id="{1FF471E7-89A7-9451-8EB8-1A913F3077EC}"/>
              </a:ext>
            </a:extLst>
          </p:cNvPr>
          <p:cNvSpPr txBox="1"/>
          <p:nvPr/>
        </p:nvSpPr>
        <p:spPr>
          <a:xfrm>
            <a:off x="83126" y="4647148"/>
            <a:ext cx="535202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FCC490"/>
                </a:solidFill>
                <a:latin typeface="Philosopher"/>
              </a:rPr>
              <a:t>09. Conclusion &amp; Recommendati</a:t>
            </a:r>
            <a:r>
              <a:rPr lang="en-US" sz="2400" dirty="0">
                <a:solidFill>
                  <a:srgbClr val="FCC490"/>
                </a:solidFill>
                <a:latin typeface="Philosopher"/>
              </a:rPr>
              <a:t>ons</a:t>
            </a:r>
            <a:r>
              <a:rPr lang="en-US" sz="2400" b="0" i="0" u="none" strike="noStrike" baseline="0" dirty="0">
                <a:solidFill>
                  <a:srgbClr val="000000"/>
                </a:solidFill>
                <a:latin typeface="Philosopher"/>
              </a:rPr>
              <a:t>​</a:t>
            </a:r>
            <a:r>
              <a:rPr sz="2400" b="0" i="0" dirty="0">
                <a:solidFill>
                  <a:srgbClr val="000000"/>
                </a:solidFill>
                <a:latin typeface="Philosopher"/>
                <a:ea typeface="Philosopher"/>
                <a:cs typeface="Philosopher"/>
              </a:rPr>
              <a:t>​</a:t>
            </a:r>
            <a:endParaRPr lang="en-US" sz="2400" dirty="0"/>
          </a:p>
          <a:p>
            <a:pPr algn="ctr"/>
            <a:endParaRPr lang="en-US"/>
          </a:p>
        </p:txBody>
      </p:sp>
      <p:sp>
        <p:nvSpPr>
          <p:cNvPr id="2" name="TextBox 1">
            <a:extLst>
              <a:ext uri="{FF2B5EF4-FFF2-40B4-BE49-F238E27FC236}">
                <a16:creationId xmlns:a16="http://schemas.microsoft.com/office/drawing/2014/main" id="{FD711C6A-F823-7FD9-D73C-F4444CD31264}"/>
              </a:ext>
            </a:extLst>
          </p:cNvPr>
          <p:cNvSpPr txBox="1"/>
          <p:nvPr/>
        </p:nvSpPr>
        <p:spPr>
          <a:xfrm>
            <a:off x="3784926" y="158346"/>
            <a:ext cx="5284333" cy="8412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chemeClr val="bg2">
                    <a:lumMod val="76000"/>
                  </a:schemeClr>
                </a:solidFill>
                <a:ea typeface="+mn-lt"/>
                <a:cs typeface="+mn-lt"/>
              </a:rPr>
              <a:t>This project demonstrated how machine learning can be applied in the financial industry to support loan default prediction and risk assessment.</a:t>
            </a:r>
            <a:endParaRPr lang="en-US" sz="1600">
              <a:solidFill>
                <a:schemeClr val="bg2">
                  <a:lumMod val="76000"/>
                </a:schemeClr>
              </a:solidFill>
              <a:cs typeface="Open Sans"/>
            </a:endParaRPr>
          </a:p>
        </p:txBody>
      </p:sp>
      <p:sp>
        <p:nvSpPr>
          <p:cNvPr id="3" name="TextBox 2">
            <a:extLst>
              <a:ext uri="{FF2B5EF4-FFF2-40B4-BE49-F238E27FC236}">
                <a16:creationId xmlns:a16="http://schemas.microsoft.com/office/drawing/2014/main" id="{9A368D34-7BB4-4528-C0CB-598994779DC1}"/>
              </a:ext>
            </a:extLst>
          </p:cNvPr>
          <p:cNvSpPr txBox="1"/>
          <p:nvPr/>
        </p:nvSpPr>
        <p:spPr>
          <a:xfrm>
            <a:off x="3796393" y="857250"/>
            <a:ext cx="5347605" cy="31443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bg2">
                    <a:lumMod val="76000"/>
                  </a:schemeClr>
                </a:solidFill>
              </a:rPr>
              <a:t>Conclusion Points:</a:t>
            </a:r>
            <a:endParaRPr lang="en-US" sz="1600" b="1">
              <a:solidFill>
                <a:schemeClr val="bg2">
                  <a:lumMod val="76000"/>
                </a:schemeClr>
              </a:solidFill>
              <a:cs typeface="Open Sans"/>
            </a:endParaRPr>
          </a:p>
          <a:p>
            <a:pPr>
              <a:buFont typeface=""/>
              <a:buChar char="•"/>
            </a:pPr>
            <a:r>
              <a:rPr lang="en-US" sz="1500" dirty="0">
                <a:solidFill>
                  <a:schemeClr val="bg2">
                    <a:lumMod val="76000"/>
                  </a:schemeClr>
                </a:solidFill>
              </a:rPr>
              <a:t>Machine learning models can assist financial institutions in identifying risky borrowers. </a:t>
            </a:r>
            <a:endParaRPr lang="en-US" sz="1500">
              <a:solidFill>
                <a:schemeClr val="bg2">
                  <a:lumMod val="76000"/>
                </a:schemeClr>
              </a:solidFill>
              <a:cs typeface="Open Sans"/>
            </a:endParaRPr>
          </a:p>
          <a:p>
            <a:pPr>
              <a:buFont typeface=""/>
              <a:buChar char="•"/>
            </a:pPr>
            <a:r>
              <a:rPr lang="en-US" sz="1500" dirty="0">
                <a:solidFill>
                  <a:schemeClr val="bg2">
                    <a:lumMod val="76000"/>
                  </a:schemeClr>
                </a:solidFill>
              </a:rPr>
              <a:t>Data preprocessing plays an important role in model performance. </a:t>
            </a:r>
            <a:endParaRPr lang="en-US" sz="1500">
              <a:solidFill>
                <a:schemeClr val="bg2">
                  <a:lumMod val="76000"/>
                </a:schemeClr>
              </a:solidFill>
              <a:cs typeface="Open Sans"/>
            </a:endParaRPr>
          </a:p>
          <a:p>
            <a:pPr>
              <a:buFont typeface=""/>
              <a:buChar char="•"/>
            </a:pPr>
            <a:r>
              <a:rPr lang="en-US" sz="1500">
                <a:solidFill>
                  <a:schemeClr val="bg2">
                    <a:lumMod val="76000"/>
                  </a:schemeClr>
                </a:solidFill>
              </a:rPr>
              <a:t>Different evaluation metrics should be considered when assessing classification models. </a:t>
            </a:r>
            <a:endParaRPr lang="en-US" sz="1500">
              <a:solidFill>
                <a:schemeClr val="bg2">
                  <a:lumMod val="76000"/>
                </a:schemeClr>
              </a:solidFill>
              <a:cs typeface="Open Sans"/>
            </a:endParaRPr>
          </a:p>
          <a:p>
            <a:pPr>
              <a:buFont typeface=""/>
              <a:buChar char="•"/>
            </a:pPr>
            <a:r>
              <a:rPr lang="en-US" sz="1500">
                <a:solidFill>
                  <a:schemeClr val="bg2">
                    <a:lumMod val="76000"/>
                  </a:schemeClr>
                </a:solidFill>
              </a:rPr>
              <a:t>Class imbalance can significantly affect prediction accuracy and reliability. </a:t>
            </a:r>
            <a:endParaRPr lang="en-US" sz="1500">
              <a:solidFill>
                <a:schemeClr val="bg2">
                  <a:lumMod val="76000"/>
                </a:schemeClr>
              </a:solidFill>
              <a:cs typeface="Open Sans"/>
            </a:endParaRPr>
          </a:p>
          <a:p>
            <a:pPr>
              <a:buFont typeface=""/>
              <a:buChar char="•"/>
            </a:pPr>
            <a:r>
              <a:rPr lang="en-US" sz="1500">
                <a:solidFill>
                  <a:schemeClr val="bg2">
                    <a:lumMod val="76000"/>
                  </a:schemeClr>
                </a:solidFill>
              </a:rPr>
              <a:t>Financial variables such as loan amount, credit score, and interest rate were important predictors of loan default risk.</a:t>
            </a:r>
            <a:endParaRPr lang="en-US" sz="1500" dirty="0">
              <a:solidFill>
                <a:schemeClr val="bg2">
                  <a:lumMod val="76000"/>
                </a:schemeClr>
              </a:solidFill>
              <a:cs typeface="Open Sans"/>
            </a:endParaRPr>
          </a:p>
          <a:p>
            <a:pPr algn="ctr"/>
            <a:endParaRPr lang="en-US" sz="1600" dirty="0">
              <a:solidFill>
                <a:schemeClr val="bg2">
                  <a:lumMod val="76000"/>
                </a:schemeClr>
              </a:solidFill>
              <a:cs typeface="Open Sans"/>
            </a:endParaRPr>
          </a:p>
        </p:txBody>
      </p:sp>
      <p:sp>
        <p:nvSpPr>
          <p:cNvPr id="4" name="TextBox 3">
            <a:extLst>
              <a:ext uri="{FF2B5EF4-FFF2-40B4-BE49-F238E27FC236}">
                <a16:creationId xmlns:a16="http://schemas.microsoft.com/office/drawing/2014/main" id="{ECE60B99-EA5A-AEF4-54AC-1FAA0E65069D}"/>
              </a:ext>
            </a:extLst>
          </p:cNvPr>
          <p:cNvSpPr txBox="1"/>
          <p:nvPr/>
        </p:nvSpPr>
        <p:spPr>
          <a:xfrm>
            <a:off x="3796393" y="3561670"/>
            <a:ext cx="5357812" cy="15489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chemeClr val="bg2">
                    <a:lumMod val="76000"/>
                  </a:schemeClr>
                </a:solidFill>
              </a:rPr>
              <a:t>Final Outcome:</a:t>
            </a:r>
            <a:endParaRPr lang="en-US" sz="1600" b="1">
              <a:solidFill>
                <a:schemeClr val="bg2">
                  <a:lumMod val="76000"/>
                </a:schemeClr>
              </a:solidFill>
              <a:cs typeface="Open Sans"/>
            </a:endParaRPr>
          </a:p>
          <a:p>
            <a:pPr>
              <a:buFont typeface=""/>
              <a:buChar char="•"/>
            </a:pPr>
            <a:r>
              <a:rPr lang="en-US" sz="1500">
                <a:solidFill>
                  <a:schemeClr val="bg2">
                    <a:lumMod val="76000"/>
                  </a:schemeClr>
                </a:solidFill>
              </a:rPr>
              <a:t>Logistic Regression performed better at detecting defaulters. </a:t>
            </a:r>
            <a:endParaRPr lang="en-US" sz="1500">
              <a:solidFill>
                <a:schemeClr val="bg2">
                  <a:lumMod val="76000"/>
                </a:schemeClr>
              </a:solidFill>
              <a:cs typeface="Open Sans"/>
            </a:endParaRPr>
          </a:p>
          <a:p>
            <a:pPr>
              <a:buFont typeface=""/>
              <a:buChar char="•"/>
            </a:pPr>
            <a:r>
              <a:rPr lang="en-US" sz="1500">
                <a:solidFill>
                  <a:schemeClr val="bg2">
                    <a:lumMod val="76000"/>
                  </a:schemeClr>
                </a:solidFill>
              </a:rPr>
              <a:t>Random Forest achieved higher accuracy but struggled with minority class prediction.</a:t>
            </a:r>
            <a:endParaRPr lang="en-US" sz="1500">
              <a:solidFill>
                <a:schemeClr val="bg2">
                  <a:lumMod val="76000"/>
                </a:schemeClr>
              </a:solidFill>
              <a:cs typeface="Open Sans"/>
            </a:endParaRPr>
          </a:p>
          <a:p>
            <a:pPr algn="ctr"/>
            <a:endParaRPr lang="en-US" sz="1600" dirty="0">
              <a:solidFill>
                <a:schemeClr val="bg2">
                  <a:lumMod val="76000"/>
                </a:schemeClr>
              </a:solidFill>
              <a:cs typeface="Open Sans"/>
            </a:endParaRPr>
          </a:p>
        </p:txBody>
      </p:sp>
    </p:spTree>
    <p:extLst>
      <p:ext uri="{BB962C8B-B14F-4D97-AF65-F5344CB8AC3E}">
        <p14:creationId xmlns:p14="http://schemas.microsoft.com/office/powerpoint/2010/main" val="29379947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37"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900" decel="100000" fill="hold"/>
                                        <p:tgtEl>
                                          <p:spTgt spid="2"/>
                                        </p:tgtEl>
                                        <p:attrNameLst>
                                          <p:attrName>ppt_y</p:attrName>
                                        </p:attrNameLst>
                                      </p:cBhvr>
                                      <p:tavLst>
                                        <p:tav tm="0">
                                          <p:val>
                                            <p:strVal val="#ppt_y+1"/>
                                          </p:val>
                                        </p:tav>
                                        <p:tav tm="100000">
                                          <p:val>
                                            <p:strVal val="#ppt_y-.03"/>
                                          </p:val>
                                        </p:tav>
                                      </p:tavLst>
                                    </p:anim>
                                    <p:anim calcmode="lin" valueType="num">
                                      <p:cBhvr>
                                        <p:cTn id="13"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par>
                                <p:cTn id="14" presetID="37"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900" decel="100000" fill="hold"/>
                                        <p:tgtEl>
                                          <p:spTgt spid="3"/>
                                        </p:tgtEl>
                                        <p:attrNameLst>
                                          <p:attrName>ppt_y</p:attrName>
                                        </p:attrNameLst>
                                      </p:cBhvr>
                                      <p:tavLst>
                                        <p:tav tm="0">
                                          <p:val>
                                            <p:strVal val="#ppt_y+1"/>
                                          </p:val>
                                        </p:tav>
                                        <p:tav tm="100000">
                                          <p:val>
                                            <p:strVal val="#ppt_y-.03"/>
                                          </p:val>
                                        </p:tav>
                                      </p:tavLst>
                                    </p:anim>
                                    <p:anim calcmode="lin" valueType="num">
                                      <p:cBhvr>
                                        <p:cTn id="19"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par>
                                <p:cTn id="20" presetID="37"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900" decel="100000" fill="hold"/>
                                        <p:tgtEl>
                                          <p:spTgt spid="4"/>
                                        </p:tgtEl>
                                        <p:attrNameLst>
                                          <p:attrName>ppt_y</p:attrName>
                                        </p:attrNameLst>
                                      </p:cBhvr>
                                      <p:tavLst>
                                        <p:tav tm="0">
                                          <p:val>
                                            <p:strVal val="#ppt_y+1"/>
                                          </p:val>
                                        </p:tav>
                                        <p:tav tm="100000">
                                          <p:val>
                                            <p:strVal val="#ppt_y-.03"/>
                                          </p:val>
                                        </p:tav>
                                      </p:tavLst>
                                    </p:anim>
                                    <p:anim calcmode="lin" valueType="num">
                                      <p:cBhvr>
                                        <p:cTn id="25"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06A35-C1D3-568E-F780-DC059AFAE1C3}"/>
            </a:ext>
          </a:extLst>
        </p:cNvPr>
        <p:cNvGrpSpPr/>
        <p:nvPr/>
      </p:nvGrpSpPr>
      <p:grpSpPr>
        <a:xfrm>
          <a:off x="0" y="0"/>
          <a:ext cx="0" cy="0"/>
          <a:chOff x="0" y="0"/>
          <a:chExt cx="0" cy="0"/>
        </a:xfrm>
      </p:grpSpPr>
      <p:pic>
        <p:nvPicPr>
          <p:cNvPr id="98" name="图片 97">
            <a:extLst>
              <a:ext uri="{FF2B5EF4-FFF2-40B4-BE49-F238E27FC236}">
                <a16:creationId xmlns:a16="http://schemas.microsoft.com/office/drawing/2014/main" id="{7072325C-F7FE-3EF5-11B1-C746AAC8A7D5}"/>
              </a:ext>
            </a:extLst>
          </p:cNvPr>
          <p:cNvPicPr>
            <a:picLocks noChangeAspect="1"/>
          </p:cNvPicPr>
          <p:nvPr/>
        </p:nvPicPr>
        <p:blipFill rotWithShape="1">
          <a:blip r:embed="rId3"/>
          <a:srcRect t="11284" b="11844"/>
          <a:stretch>
            <a:fillRect/>
          </a:stretch>
        </p:blipFill>
        <p:spPr>
          <a:xfrm>
            <a:off x="83442" y="34651"/>
            <a:ext cx="5010912" cy="5143500"/>
          </a:xfrm>
          <a:prstGeom prst="rect">
            <a:avLst/>
          </a:prstGeom>
        </p:spPr>
      </p:pic>
      <p:sp>
        <p:nvSpPr>
          <p:cNvPr id="99" name="矩形 98">
            <a:extLst>
              <a:ext uri="{FF2B5EF4-FFF2-40B4-BE49-F238E27FC236}">
                <a16:creationId xmlns:a16="http://schemas.microsoft.com/office/drawing/2014/main" id="{C486CFA5-0735-F997-BD55-85278C9C248C}"/>
              </a:ext>
            </a:extLst>
          </p:cNvPr>
          <p:cNvSpPr/>
          <p:nvPr/>
        </p:nvSpPr>
        <p:spPr bwMode="auto">
          <a:xfrm>
            <a:off x="-168979" y="252437"/>
            <a:ext cx="3403600" cy="829945"/>
          </a:xfrm>
          <a:prstGeom prst="rect">
            <a:avLst/>
          </a:prstGeom>
          <a:noFill/>
          <a:ln>
            <a:noFill/>
          </a:ln>
        </p:spPr>
        <p:txBody>
          <a:bodyPr wrap="square" rtlCol="0">
            <a:spAutoFit/>
          </a:bodyPr>
          <a:lstStyle/>
          <a:p>
            <a:pPr algn="ctr" defTabSz="457200"/>
            <a:r>
              <a:rPr lang="zh-CN" altLang="en-US" sz="4800" b="1">
                <a:ln w="38100">
                  <a:noFill/>
                </a:ln>
                <a:gradFill>
                  <a:gsLst>
                    <a:gs pos="0">
                      <a:srgbClr val="FCC490"/>
                    </a:gs>
                    <a:gs pos="100000">
                      <a:srgbClr val="FCC896"/>
                    </a:gs>
                  </a:gsLst>
                  <a:lin ang="0" scaled="1"/>
                </a:gradFill>
                <a:latin typeface="+mj-ea"/>
                <a:ea typeface="+mj-ea"/>
                <a:cs typeface="Philosopher" panose="00000500000000000000" charset="0"/>
                <a:sym typeface="Open Sans" panose="020B0606030504020204" charset="0"/>
              </a:rPr>
              <a:t>CONTENTS</a:t>
            </a:r>
          </a:p>
        </p:txBody>
      </p:sp>
      <p:sp>
        <p:nvSpPr>
          <p:cNvPr id="57" name="文本框 56">
            <a:extLst>
              <a:ext uri="{FF2B5EF4-FFF2-40B4-BE49-F238E27FC236}">
                <a16:creationId xmlns:a16="http://schemas.microsoft.com/office/drawing/2014/main" id="{389ED86B-61A2-C771-62F1-82BD7CA4B2B5}"/>
              </a:ext>
            </a:extLst>
          </p:cNvPr>
          <p:cNvSpPr txBox="1"/>
          <p:nvPr/>
        </p:nvSpPr>
        <p:spPr>
          <a:xfrm>
            <a:off x="-6510" y="3006"/>
            <a:ext cx="765162" cy="306705"/>
          </a:xfrm>
          <a:prstGeom prst="rect">
            <a:avLst/>
          </a:prstGeom>
          <a:noFill/>
          <a:ln>
            <a:noFill/>
          </a:ln>
        </p:spPr>
        <p:txBody>
          <a:bodyPr wrap="square" rtlCol="0">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r>
              <a:rPr lang="en-US" altLang="zh-CN" sz="1400" spc="0">
                <a:solidFill>
                  <a:schemeClr val="tx1">
                    <a:lumMod val="65000"/>
                    <a:lumOff val="35000"/>
                  </a:schemeClr>
                </a:solidFill>
                <a:effectLst/>
                <a:cs typeface="Philosopher" panose="00000500000000000000" charset="0"/>
                <a:sym typeface="Open Sans" panose="020B0606030504020204" charset="0"/>
              </a:rPr>
              <a:t>VR</a:t>
            </a:r>
          </a:p>
        </p:txBody>
      </p:sp>
      <p:sp>
        <p:nvSpPr>
          <p:cNvPr id="7" name="TextBox 6">
            <a:extLst>
              <a:ext uri="{FF2B5EF4-FFF2-40B4-BE49-F238E27FC236}">
                <a16:creationId xmlns:a16="http://schemas.microsoft.com/office/drawing/2014/main" id="{2D25477A-D1BB-A5A5-084C-0EF94E4BABAF}"/>
              </a:ext>
            </a:extLst>
          </p:cNvPr>
          <p:cNvSpPr txBox="1"/>
          <p:nvPr/>
        </p:nvSpPr>
        <p:spPr>
          <a:xfrm>
            <a:off x="86918" y="1495027"/>
            <a:ext cx="25640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02. Project Objectives</a:t>
            </a:r>
            <a:endParaRPr lang="en-US" dirty="0">
              <a:solidFill>
                <a:srgbClr val="FCC490"/>
              </a:solidFill>
              <a:latin typeface="Philosopher"/>
            </a:endParaRPr>
          </a:p>
          <a:p>
            <a:pPr algn="ctr"/>
            <a:endParaRPr lang="en-US"/>
          </a:p>
        </p:txBody>
      </p:sp>
      <p:sp>
        <p:nvSpPr>
          <p:cNvPr id="9" name="TextBox 8">
            <a:extLst>
              <a:ext uri="{FF2B5EF4-FFF2-40B4-BE49-F238E27FC236}">
                <a16:creationId xmlns:a16="http://schemas.microsoft.com/office/drawing/2014/main" id="{5360B1C7-8523-3F5F-B150-B4D3D59C8835}"/>
              </a:ext>
            </a:extLst>
          </p:cNvPr>
          <p:cNvSpPr txBox="1"/>
          <p:nvPr/>
        </p:nvSpPr>
        <p:spPr>
          <a:xfrm>
            <a:off x="86918" y="192484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03. Dataset Description</a:t>
            </a:r>
            <a:endParaRPr lang="en-US" dirty="0">
              <a:solidFill>
                <a:srgbClr val="FCC490"/>
              </a:solidFill>
              <a:latin typeface="Philosopher"/>
            </a:endParaRPr>
          </a:p>
          <a:p>
            <a:pPr algn="ctr"/>
            <a:endParaRPr lang="en-US"/>
          </a:p>
        </p:txBody>
      </p:sp>
      <p:sp>
        <p:nvSpPr>
          <p:cNvPr id="10" name="TextBox 9">
            <a:extLst>
              <a:ext uri="{FF2B5EF4-FFF2-40B4-BE49-F238E27FC236}">
                <a16:creationId xmlns:a16="http://schemas.microsoft.com/office/drawing/2014/main" id="{62307150-7CB6-0E7C-CB02-14DCF70C109A}"/>
              </a:ext>
            </a:extLst>
          </p:cNvPr>
          <p:cNvSpPr txBox="1"/>
          <p:nvPr/>
        </p:nvSpPr>
        <p:spPr>
          <a:xfrm>
            <a:off x="86918" y="2388786"/>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04. Data Processing</a:t>
            </a:r>
            <a:endParaRPr lang="en-US" dirty="0">
              <a:solidFill>
                <a:srgbClr val="FCC490"/>
              </a:solidFill>
              <a:latin typeface="Philosopher"/>
            </a:endParaRPr>
          </a:p>
          <a:p>
            <a:pPr algn="ctr"/>
            <a:endParaRPr lang="en-US"/>
          </a:p>
        </p:txBody>
      </p:sp>
      <p:sp>
        <p:nvSpPr>
          <p:cNvPr id="11" name="TextBox 10">
            <a:extLst>
              <a:ext uri="{FF2B5EF4-FFF2-40B4-BE49-F238E27FC236}">
                <a16:creationId xmlns:a16="http://schemas.microsoft.com/office/drawing/2014/main" id="{C4751B87-553F-28A9-1A87-F8894854F1DB}"/>
              </a:ext>
            </a:extLst>
          </p:cNvPr>
          <p:cNvSpPr txBox="1"/>
          <p:nvPr/>
        </p:nvSpPr>
        <p:spPr>
          <a:xfrm>
            <a:off x="86918" y="2818885"/>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05. Machine Learning Model</a:t>
            </a:r>
            <a:endParaRPr lang="en-US" dirty="0">
              <a:solidFill>
                <a:srgbClr val="FCC490"/>
              </a:solidFill>
              <a:latin typeface="Philosopher"/>
            </a:endParaRPr>
          </a:p>
          <a:p>
            <a:pPr algn="ctr"/>
            <a:endParaRPr lang="en-US"/>
          </a:p>
        </p:txBody>
      </p:sp>
      <p:sp>
        <p:nvSpPr>
          <p:cNvPr id="12" name="TextBox 11">
            <a:extLst>
              <a:ext uri="{FF2B5EF4-FFF2-40B4-BE49-F238E27FC236}">
                <a16:creationId xmlns:a16="http://schemas.microsoft.com/office/drawing/2014/main" id="{2517B734-3B12-E06D-F087-189BF9FCD997}"/>
              </a:ext>
            </a:extLst>
          </p:cNvPr>
          <p:cNvSpPr txBox="1"/>
          <p:nvPr/>
        </p:nvSpPr>
        <p:spPr>
          <a:xfrm>
            <a:off x="86918" y="3243649"/>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06. Model </a:t>
            </a:r>
            <a:r>
              <a:rPr lang="en-US" dirty="0" err="1">
                <a:solidFill>
                  <a:srgbClr val="FCC490"/>
                </a:solidFill>
                <a:latin typeface="Philosopher"/>
              </a:rPr>
              <a:t>Evaluat</a:t>
            </a:r>
            <a:r>
              <a:rPr lang="en-US" dirty="0">
                <a:solidFill>
                  <a:srgbClr val="FCC490"/>
                </a:solidFill>
                <a:latin typeface="Philosopher"/>
              </a:rPr>
              <a:t>ion</a:t>
            </a:r>
          </a:p>
          <a:p>
            <a:pPr algn="ctr"/>
            <a:endParaRPr lang="en-US"/>
          </a:p>
        </p:txBody>
      </p:sp>
      <p:sp>
        <p:nvSpPr>
          <p:cNvPr id="13" name="TextBox 12">
            <a:extLst>
              <a:ext uri="{FF2B5EF4-FFF2-40B4-BE49-F238E27FC236}">
                <a16:creationId xmlns:a16="http://schemas.microsoft.com/office/drawing/2014/main" id="{387EB138-7FDC-DBC2-FAA8-F9DFDB77FE99}"/>
              </a:ext>
            </a:extLst>
          </p:cNvPr>
          <p:cNvSpPr txBox="1"/>
          <p:nvPr/>
        </p:nvSpPr>
        <p:spPr>
          <a:xfrm>
            <a:off x="86918" y="3678803"/>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07. Key Findings</a:t>
            </a:r>
            <a:endParaRPr lang="en-US" dirty="0">
              <a:solidFill>
                <a:srgbClr val="FCC490"/>
              </a:solidFill>
              <a:latin typeface="Philosopher"/>
            </a:endParaRPr>
          </a:p>
          <a:p>
            <a:pPr algn="ctr"/>
            <a:endParaRPr lang="en-US"/>
          </a:p>
        </p:txBody>
      </p:sp>
      <p:sp>
        <p:nvSpPr>
          <p:cNvPr id="14" name="TextBox 13">
            <a:extLst>
              <a:ext uri="{FF2B5EF4-FFF2-40B4-BE49-F238E27FC236}">
                <a16:creationId xmlns:a16="http://schemas.microsoft.com/office/drawing/2014/main" id="{3564D0B8-F8DE-FC7E-D576-966C7A02F7D9}"/>
              </a:ext>
            </a:extLst>
          </p:cNvPr>
          <p:cNvSpPr txBox="1"/>
          <p:nvPr/>
        </p:nvSpPr>
        <p:spPr>
          <a:xfrm>
            <a:off x="86918" y="1083042"/>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CC490"/>
                </a:solidFill>
                <a:latin typeface="Philosopher"/>
              </a:rPr>
              <a:t>01. Introduction &amp; Problem Statement</a:t>
            </a:r>
            <a:endParaRPr lang="en-US" dirty="0">
              <a:solidFill>
                <a:srgbClr val="FCC490"/>
              </a:solidFill>
              <a:latin typeface="Philosopher"/>
            </a:endParaRPr>
          </a:p>
          <a:p>
            <a:pPr algn="ctr"/>
            <a:endParaRPr lang="en-US"/>
          </a:p>
        </p:txBody>
      </p:sp>
      <p:sp>
        <p:nvSpPr>
          <p:cNvPr id="17" name="TextBox 16">
            <a:extLst>
              <a:ext uri="{FF2B5EF4-FFF2-40B4-BE49-F238E27FC236}">
                <a16:creationId xmlns:a16="http://schemas.microsoft.com/office/drawing/2014/main" id="{15927617-C57E-2623-8E80-8B3525FCC785}"/>
              </a:ext>
            </a:extLst>
          </p:cNvPr>
          <p:cNvSpPr txBox="1"/>
          <p:nvPr/>
        </p:nvSpPr>
        <p:spPr>
          <a:xfrm>
            <a:off x="83127" y="3860222"/>
            <a:ext cx="4572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rgbClr val="FCC490"/>
              </a:solidFill>
              <a:latin typeface="Philosopher"/>
            </a:endParaRPr>
          </a:p>
          <a:p>
            <a:r>
              <a:rPr lang="en-US">
                <a:solidFill>
                  <a:srgbClr val="FCC490"/>
                </a:solidFill>
                <a:latin typeface="Philosopher"/>
              </a:rPr>
              <a:t>08. Challenges</a:t>
            </a:r>
            <a:r>
              <a:rPr lang="en-US" dirty="0">
                <a:solidFill>
                  <a:srgbClr val="FCC490"/>
                </a:solidFill>
                <a:latin typeface="Philosopher"/>
              </a:rPr>
              <a:t> Encountered</a:t>
            </a:r>
            <a:r>
              <a:rPr lang="en-US" sz="1800" b="0" i="0" u="none" strike="noStrike" baseline="0" dirty="0">
                <a:solidFill>
                  <a:srgbClr val="000000"/>
                </a:solidFill>
                <a:latin typeface="Philosopher"/>
              </a:rPr>
              <a:t>​</a:t>
            </a:r>
            <a:r>
              <a:rPr sz="1800" b="0" i="0" dirty="0">
                <a:solidFill>
                  <a:srgbClr val="000000"/>
                </a:solidFill>
                <a:latin typeface="Philosopher"/>
                <a:ea typeface="Philosopher"/>
                <a:cs typeface="Philosopher"/>
              </a:rPr>
              <a:t>​</a:t>
            </a:r>
            <a:endParaRPr lang="en-US">
              <a:cs typeface="Open Sans"/>
            </a:endParaRPr>
          </a:p>
          <a:p>
            <a:pPr algn="ctr"/>
            <a:endParaRPr lang="en-US"/>
          </a:p>
        </p:txBody>
      </p:sp>
      <p:sp>
        <p:nvSpPr>
          <p:cNvPr id="18" name="TextBox 17">
            <a:extLst>
              <a:ext uri="{FF2B5EF4-FFF2-40B4-BE49-F238E27FC236}">
                <a16:creationId xmlns:a16="http://schemas.microsoft.com/office/drawing/2014/main" id="{79DC67DF-2F6E-D083-3419-29A39AFCD2A1}"/>
              </a:ext>
            </a:extLst>
          </p:cNvPr>
          <p:cNvSpPr txBox="1"/>
          <p:nvPr/>
        </p:nvSpPr>
        <p:spPr>
          <a:xfrm>
            <a:off x="83126" y="4647148"/>
            <a:ext cx="535202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FCC490"/>
                </a:solidFill>
                <a:latin typeface="Philosopher"/>
              </a:rPr>
              <a:t>09. Conclusion &amp; Recommendati</a:t>
            </a:r>
            <a:r>
              <a:rPr lang="en-US" sz="2400" dirty="0">
                <a:solidFill>
                  <a:srgbClr val="FCC490"/>
                </a:solidFill>
                <a:latin typeface="Philosopher"/>
              </a:rPr>
              <a:t>ons</a:t>
            </a:r>
            <a:r>
              <a:rPr lang="en-US" sz="2400" b="0" i="0" u="none" strike="noStrike" baseline="0" dirty="0">
                <a:solidFill>
                  <a:srgbClr val="000000"/>
                </a:solidFill>
                <a:latin typeface="Philosopher"/>
              </a:rPr>
              <a:t>​</a:t>
            </a:r>
            <a:r>
              <a:rPr sz="2400" b="0" i="0" dirty="0">
                <a:solidFill>
                  <a:srgbClr val="000000"/>
                </a:solidFill>
                <a:latin typeface="Philosopher"/>
                <a:ea typeface="Philosopher"/>
                <a:cs typeface="Philosopher"/>
              </a:rPr>
              <a:t>​</a:t>
            </a:r>
            <a:endParaRPr lang="en-US" sz="2400" dirty="0"/>
          </a:p>
          <a:p>
            <a:pPr algn="ctr"/>
            <a:endParaRPr lang="en-US"/>
          </a:p>
        </p:txBody>
      </p:sp>
      <p:sp>
        <p:nvSpPr>
          <p:cNvPr id="3" name="TextBox 2">
            <a:extLst>
              <a:ext uri="{FF2B5EF4-FFF2-40B4-BE49-F238E27FC236}">
                <a16:creationId xmlns:a16="http://schemas.microsoft.com/office/drawing/2014/main" id="{C4F4E34A-44C1-257F-F4F4-321EA97DA734}"/>
              </a:ext>
            </a:extLst>
          </p:cNvPr>
          <p:cNvSpPr txBox="1"/>
          <p:nvPr/>
        </p:nvSpPr>
        <p:spPr>
          <a:xfrm>
            <a:off x="3684134" y="306161"/>
            <a:ext cx="5347605"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bg2">
                    <a:lumMod val="76000"/>
                  </a:schemeClr>
                </a:solidFill>
              </a:rPr>
              <a:t>Recommendations:</a:t>
            </a:r>
            <a:endParaRPr lang="en-US" sz="1600" b="1">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Use larger and more diverse datasets for improved prediction performance. </a:t>
            </a:r>
            <a:endParaRPr lang="en-US" sz="1600" dirty="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Apply balancing techniques such as SMOTE to address class imbalance. </a:t>
            </a:r>
            <a:endParaRPr lang="en-US" sz="1600" dirty="0">
              <a:solidFill>
                <a:schemeClr val="bg2">
                  <a:lumMod val="76000"/>
                </a:schemeClr>
              </a:solidFill>
              <a:cs typeface="Open Sans"/>
            </a:endParaRPr>
          </a:p>
          <a:p>
            <a:pPr marL="285750" indent="-285750">
              <a:buFont typeface="Arial"/>
              <a:buChar char="•"/>
            </a:pPr>
            <a:r>
              <a:rPr lang="en-US" sz="1600" dirty="0">
                <a:solidFill>
                  <a:schemeClr val="bg2">
                    <a:lumMod val="76000"/>
                  </a:schemeClr>
                </a:solidFill>
                <a:ea typeface="+mn-lt"/>
                <a:cs typeface="+mn-lt"/>
              </a:rPr>
              <a:t>Experiment with additional machine learning algorithms. </a:t>
            </a:r>
            <a:endParaRPr lang="en-US" sz="1600" dirty="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Perform advanced feature engineering to improve model accuracy. </a:t>
            </a:r>
            <a:endParaRPr lang="en-US" sz="1600" dirty="0">
              <a:solidFill>
                <a:schemeClr val="bg2">
                  <a:lumMod val="76000"/>
                </a:schemeClr>
              </a:solidFill>
              <a:cs typeface="Open Sans"/>
            </a:endParaRPr>
          </a:p>
          <a:p>
            <a:pPr marL="285750" indent="-285750">
              <a:buFont typeface="Arial"/>
              <a:buChar char="•"/>
            </a:pPr>
            <a:r>
              <a:rPr lang="en-US" sz="1600" dirty="0">
                <a:solidFill>
                  <a:schemeClr val="bg2">
                    <a:lumMod val="76000"/>
                  </a:schemeClr>
                </a:solidFill>
                <a:ea typeface="+mn-lt"/>
                <a:cs typeface="+mn-lt"/>
              </a:rPr>
              <a:t>Continuously monitor and update predictive models using new financial data.</a:t>
            </a:r>
            <a:endParaRPr lang="en-US" sz="1600" dirty="0">
              <a:solidFill>
                <a:schemeClr val="bg2">
                  <a:lumMod val="76000"/>
                </a:schemeClr>
              </a:solidFill>
              <a:cs typeface="Open Sans"/>
            </a:endParaRPr>
          </a:p>
          <a:p>
            <a:endParaRPr lang="en-US" sz="1600" dirty="0">
              <a:solidFill>
                <a:schemeClr val="bg2">
                  <a:lumMod val="76000"/>
                </a:schemeClr>
              </a:solidFill>
              <a:cs typeface="Open Sans"/>
            </a:endParaRPr>
          </a:p>
        </p:txBody>
      </p:sp>
      <p:sp>
        <p:nvSpPr>
          <p:cNvPr id="4" name="TextBox 3">
            <a:extLst>
              <a:ext uri="{FF2B5EF4-FFF2-40B4-BE49-F238E27FC236}">
                <a16:creationId xmlns:a16="http://schemas.microsoft.com/office/drawing/2014/main" id="{845C08D8-EAAA-AF79-2B46-B9A29D209180}"/>
              </a:ext>
            </a:extLst>
          </p:cNvPr>
          <p:cNvSpPr txBox="1"/>
          <p:nvPr/>
        </p:nvSpPr>
        <p:spPr>
          <a:xfrm>
            <a:off x="3684134" y="3143250"/>
            <a:ext cx="535781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bg2">
                    <a:lumMod val="76000"/>
                  </a:schemeClr>
                </a:solidFill>
              </a:rPr>
              <a:t>Future Improvements:</a:t>
            </a:r>
            <a:endParaRPr lang="en-US"/>
          </a:p>
          <a:p>
            <a:pPr marL="285750" indent="-285750">
              <a:buFont typeface="Arial"/>
              <a:buChar char="•"/>
            </a:pPr>
            <a:r>
              <a:rPr lang="en-US" sz="1600">
                <a:solidFill>
                  <a:schemeClr val="bg2">
                    <a:lumMod val="76000"/>
                  </a:schemeClr>
                </a:solidFill>
                <a:ea typeface="+mn-lt"/>
                <a:cs typeface="+mn-lt"/>
              </a:rPr>
              <a:t>Incorporate real-time financial behavior data. </a:t>
            </a:r>
            <a:endParaRPr lang="en-US" sz="160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Explore deep learning approaches for prediction. </a:t>
            </a:r>
            <a:endParaRPr lang="en-US" sz="1600">
              <a:solidFill>
                <a:schemeClr val="bg2">
                  <a:lumMod val="76000"/>
                </a:schemeClr>
              </a:solidFill>
              <a:cs typeface="Open Sans"/>
            </a:endParaRPr>
          </a:p>
          <a:p>
            <a:pPr marL="285750" indent="-285750">
              <a:buFont typeface="Arial"/>
              <a:buChar char="•"/>
            </a:pPr>
            <a:r>
              <a:rPr lang="en-US" sz="1600">
                <a:solidFill>
                  <a:schemeClr val="bg2">
                    <a:lumMod val="76000"/>
                  </a:schemeClr>
                </a:solidFill>
                <a:ea typeface="+mn-lt"/>
                <a:cs typeface="+mn-lt"/>
              </a:rPr>
              <a:t>Improve borrower risk segmentation techniques.</a:t>
            </a:r>
            <a:endParaRPr lang="en-US" sz="1600">
              <a:solidFill>
                <a:schemeClr val="bg2">
                  <a:lumMod val="76000"/>
                </a:schemeClr>
              </a:solidFill>
              <a:cs typeface="Open Sans"/>
            </a:endParaRPr>
          </a:p>
          <a:p>
            <a:pPr algn="ctr"/>
            <a:endParaRPr lang="en-US" sz="1600" dirty="0">
              <a:solidFill>
                <a:schemeClr val="bg2">
                  <a:lumMod val="76000"/>
                </a:schemeClr>
              </a:solidFill>
              <a:cs typeface="Open Sans"/>
            </a:endParaRPr>
          </a:p>
        </p:txBody>
      </p:sp>
    </p:spTree>
    <p:extLst>
      <p:ext uri="{BB962C8B-B14F-4D97-AF65-F5344CB8AC3E}">
        <p14:creationId xmlns:p14="http://schemas.microsoft.com/office/powerpoint/2010/main" val="160896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37"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anim calcmode="lin" valueType="num">
                                      <p:cBhvr>
                                        <p:cTn id="11" dur="1000" fill="hold"/>
                                        <p:tgtEl>
                                          <p:spTgt spid="3"/>
                                        </p:tgtEl>
                                        <p:attrNameLst>
                                          <p:attrName>ppt_x</p:attrName>
                                        </p:attrNameLst>
                                      </p:cBhvr>
                                      <p:tavLst>
                                        <p:tav tm="0">
                                          <p:val>
                                            <p:strVal val="#ppt_x"/>
                                          </p:val>
                                        </p:tav>
                                        <p:tav tm="100000">
                                          <p:val>
                                            <p:strVal val="#ppt_x"/>
                                          </p:val>
                                        </p:tav>
                                      </p:tavLst>
                                    </p:anim>
                                    <p:anim calcmode="lin" valueType="num">
                                      <p:cBhvr>
                                        <p:cTn id="12" dur="900" decel="100000" fill="hold"/>
                                        <p:tgtEl>
                                          <p:spTgt spid="3"/>
                                        </p:tgtEl>
                                        <p:attrNameLst>
                                          <p:attrName>ppt_y</p:attrName>
                                        </p:attrNameLst>
                                      </p:cBhvr>
                                      <p:tavLst>
                                        <p:tav tm="0">
                                          <p:val>
                                            <p:strVal val="#ppt_y+1"/>
                                          </p:val>
                                        </p:tav>
                                        <p:tav tm="100000">
                                          <p:val>
                                            <p:strVal val="#ppt_y-.03"/>
                                          </p:val>
                                        </p:tav>
                                      </p:tavLst>
                                    </p:anim>
                                    <p:anim calcmode="lin" valueType="num">
                                      <p:cBhvr>
                                        <p:cTn id="13"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par>
                                <p:cTn id="14" presetID="37"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anim calcmode="lin" valueType="num">
                                      <p:cBhvr>
                                        <p:cTn id="17" dur="1000" fill="hold"/>
                                        <p:tgtEl>
                                          <p:spTgt spid="4"/>
                                        </p:tgtEl>
                                        <p:attrNameLst>
                                          <p:attrName>ppt_x</p:attrName>
                                        </p:attrNameLst>
                                      </p:cBhvr>
                                      <p:tavLst>
                                        <p:tav tm="0">
                                          <p:val>
                                            <p:strVal val="#ppt_x"/>
                                          </p:val>
                                        </p:tav>
                                        <p:tav tm="100000">
                                          <p:val>
                                            <p:strVal val="#ppt_x"/>
                                          </p:val>
                                        </p:tav>
                                      </p:tavLst>
                                    </p:anim>
                                    <p:anim calcmode="lin" valueType="num">
                                      <p:cBhvr>
                                        <p:cTn id="18" dur="900" decel="100000" fill="hold"/>
                                        <p:tgtEl>
                                          <p:spTgt spid="4"/>
                                        </p:tgtEl>
                                        <p:attrNameLst>
                                          <p:attrName>ppt_y</p:attrName>
                                        </p:attrNameLst>
                                      </p:cBhvr>
                                      <p:tavLst>
                                        <p:tav tm="0">
                                          <p:val>
                                            <p:strVal val="#ppt_y+1"/>
                                          </p:val>
                                        </p:tav>
                                        <p:tav tm="100000">
                                          <p:val>
                                            <p:strVal val="#ppt_y-.03"/>
                                          </p:val>
                                        </p:tav>
                                      </p:tavLst>
                                    </p:anim>
                                    <p:anim calcmode="lin" valueType="num">
                                      <p:cBhvr>
                                        <p:cTn id="19"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图片 80"/>
          <p:cNvPicPr>
            <a:picLocks noChangeAspect="1"/>
          </p:cNvPicPr>
          <p:nvPr/>
        </p:nvPicPr>
        <p:blipFill rotWithShape="1">
          <a:blip r:embed="rId2"/>
          <a:srcRect t="11284" b="11844"/>
          <a:stretch>
            <a:fillRect/>
          </a:stretch>
        </p:blipFill>
        <p:spPr>
          <a:xfrm flipH="1" flipV="1">
            <a:off x="3806952" y="0"/>
            <a:ext cx="5010912" cy="5143500"/>
          </a:xfrm>
          <a:prstGeom prst="rect">
            <a:avLst/>
          </a:prstGeom>
        </p:spPr>
      </p:pic>
      <p:sp>
        <p:nvSpPr>
          <p:cNvPr id="109" name="文本框 108"/>
          <p:cNvSpPr txBox="1"/>
          <p:nvPr/>
        </p:nvSpPr>
        <p:spPr>
          <a:xfrm>
            <a:off x="132504" y="95682"/>
            <a:ext cx="765162" cy="307777"/>
          </a:xfrm>
          <a:prstGeom prst="rect">
            <a:avLst/>
          </a:prstGeom>
          <a:noFill/>
          <a:ln>
            <a:noFill/>
          </a:ln>
        </p:spPr>
        <p:txBody>
          <a:bodyPr wrap="square" lIns="91440" tIns="45720" rIns="91440" bIns="45720" rtlCol="0" anchor="t">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r>
              <a:rPr lang="en-US" altLang="zh-CN" sz="1400" spc="0">
                <a:solidFill>
                  <a:schemeClr val="tx1">
                    <a:lumMod val="65000"/>
                    <a:lumOff val="35000"/>
                  </a:schemeClr>
                </a:solidFill>
                <a:effectLst/>
                <a:sym typeface="Open Sans" panose="020B0606030504020204" charset="0"/>
              </a:rPr>
              <a:t>VR</a:t>
            </a:r>
            <a:endParaRPr lang="en-US" altLang="zh-CN" sz="1400" spc="0" dirty="0">
              <a:solidFill>
                <a:schemeClr val="tx1">
                  <a:lumMod val="65000"/>
                  <a:lumOff val="35000"/>
                </a:schemeClr>
              </a:solidFill>
              <a:effectLst/>
            </a:endParaRPr>
          </a:p>
        </p:txBody>
      </p:sp>
      <p:sp>
        <p:nvSpPr>
          <p:cNvPr id="41" name="文本框 40"/>
          <p:cNvSpPr txBox="1"/>
          <p:nvPr/>
        </p:nvSpPr>
        <p:spPr>
          <a:xfrm>
            <a:off x="642379" y="1608651"/>
            <a:ext cx="3368230" cy="769441"/>
          </a:xfrm>
          <a:prstGeom prst="rect">
            <a:avLst/>
          </a:prstGeom>
          <a:noFill/>
        </p:spPr>
        <p:txBody>
          <a:bodyPr wrap="none" lIns="91440" tIns="45720" rIns="91440" bIns="45720" rtlCol="0" anchor="t">
            <a:spAutoFit/>
          </a:bodyPr>
          <a:lstStyle/>
          <a:p>
            <a:r>
              <a:rPr lang="en-US" sz="4400" b="1">
                <a:solidFill>
                  <a:srgbClr val="FCC896"/>
                </a:solidFill>
                <a:latin typeface="Philosopher"/>
                <a:ea typeface="+mj-ea"/>
              </a:rPr>
              <a:t>THANK YOU</a:t>
            </a:r>
            <a:endParaRPr lang="en-US"/>
          </a:p>
        </p:txBody>
      </p:sp>
      <p:sp>
        <p:nvSpPr>
          <p:cNvPr id="54" name="矩形: 圆角 53"/>
          <p:cNvSpPr/>
          <p:nvPr/>
        </p:nvSpPr>
        <p:spPr>
          <a:xfrm>
            <a:off x="903226" y="2320025"/>
            <a:ext cx="1245453" cy="501502"/>
          </a:xfrm>
          <a:prstGeom prst="roundRect">
            <a:avLst>
              <a:gd name="adj" fmla="val 50000"/>
            </a:avLst>
          </a:prstGeom>
          <a:solidFill>
            <a:srgbClr val="FCC8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cs typeface="Philosopher" panose="00000500000000000000" charset="0"/>
            </a:endParaRPr>
          </a:p>
        </p:txBody>
      </p:sp>
      <p:sp>
        <p:nvSpPr>
          <p:cNvPr id="57" name="文本框 56"/>
          <p:cNvSpPr txBox="1"/>
          <p:nvPr/>
        </p:nvSpPr>
        <p:spPr>
          <a:xfrm>
            <a:off x="896621" y="2367012"/>
            <a:ext cx="1208257" cy="415498"/>
          </a:xfrm>
          <a:prstGeom prst="rect">
            <a:avLst/>
          </a:prstGeom>
          <a:noFill/>
          <a:ln>
            <a:noFill/>
          </a:ln>
        </p:spPr>
        <p:txBody>
          <a:bodyPr wrap="square" lIns="91440" tIns="45720" rIns="91440" bIns="45720" rtlCol="0" anchor="t">
            <a:spAutoFit/>
          </a:bodyPr>
          <a:lstStyle>
            <a:defPPr>
              <a:defRPr lang="zh-CN"/>
            </a:defPPr>
            <a:lvl1pPr>
              <a:defRPr sz="2400" spc="-150">
                <a:ln w="38100">
                  <a:noFill/>
                </a:ln>
                <a:solidFill>
                  <a:srgbClr val="D53D2A"/>
                </a:solidFill>
                <a:effectLst>
                  <a:outerShdw blurRad="127000" dist="127000" dir="5400000" algn="t" rotWithShape="0">
                    <a:srgbClr val="D53D2A">
                      <a:alpha val="20000"/>
                    </a:srgbClr>
                  </a:outerShdw>
                </a:effectLst>
                <a:latin typeface="+mj-ea"/>
                <a:ea typeface="+mj-ea"/>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w="38100">
                  <a:noFill/>
                </a:ln>
                <a:solidFill>
                  <a:schemeClr val="tx1">
                    <a:lumMod val="85000"/>
                    <a:lumOff val="15000"/>
                  </a:schemeClr>
                </a:solidFill>
                <a:effectLst/>
                <a:uLnTx/>
                <a:uFillTx/>
                <a:latin typeface="Philosopher"/>
                <a:ea typeface="Philosopher" panose="00000500000000000000" charset="0"/>
                <a:cs typeface="Philosopher" panose="00000500000000000000" charset="0"/>
                <a:sym typeface="Open Sans" panose="020B0606030504020204" charset="0"/>
              </a:rPr>
              <a:t>Reporter: </a:t>
            </a:r>
            <a:endParaRPr lang="zh-CN" altLang="en-US" sz="1050" b="0" i="0" u="none" strike="noStrike" kern="1200" cap="none" spc="0" normalizeH="0" baseline="0" noProof="0">
              <a:ln w="38100">
                <a:noFill/>
              </a:ln>
              <a:solidFill>
                <a:schemeClr val="tx1">
                  <a:lumMod val="85000"/>
                  <a:lumOff val="15000"/>
                </a:schemeClr>
              </a:solidFill>
              <a:effectLst/>
              <a:uLnTx/>
              <a:uFillTx/>
              <a:latin typeface="Philosopher"/>
              <a:ea typeface="Philosopher" panose="00000500000000000000" charset="0"/>
              <a:cs typeface="Philosopher" panose="00000500000000000000" charset="0"/>
            </a:endParaRPr>
          </a:p>
          <a:p>
            <a:pPr algn="ctr" defTabSz="685800">
              <a:defRPr/>
            </a:pPr>
            <a:r>
              <a:rPr lang="zh-CN" altLang="en-US" sz="1050" spc="0">
                <a:solidFill>
                  <a:schemeClr val="tx1">
                    <a:lumMod val="85000"/>
                    <a:lumOff val="15000"/>
                  </a:schemeClr>
                </a:solidFill>
                <a:effectLst/>
                <a:latin typeface="Philosopher"/>
                <a:ea typeface="Philosopher" panose="00000500000000000000" charset="0"/>
                <a:cs typeface="Philosopher" panose="00000500000000000000" charset="0"/>
              </a:rPr>
              <a:t>ROSEMARY</a:t>
            </a:r>
            <a:endParaRPr lang="zh-CN" altLang="en-US" sz="900" spc="0" dirty="0">
              <a:solidFill>
                <a:schemeClr val="tx1">
                  <a:lumMod val="85000"/>
                  <a:lumOff val="15000"/>
                </a:schemeClr>
              </a:solidFill>
              <a:effectLst/>
              <a:latin typeface="Philosopher"/>
              <a:ea typeface="Philosopher" panose="00000500000000000000" charset="0"/>
              <a:cs typeface="Philosopher" panose="00000500000000000000" charset="0"/>
            </a:endParaRPr>
          </a:p>
        </p:txBody>
      </p:sp>
      <p:sp>
        <p:nvSpPr>
          <p:cNvPr id="59" name="矩形 58"/>
          <p:cNvSpPr/>
          <p:nvPr/>
        </p:nvSpPr>
        <p:spPr>
          <a:xfrm>
            <a:off x="678787" y="1289590"/>
            <a:ext cx="5649555" cy="584775"/>
          </a:xfrm>
          <a:prstGeom prst="rect">
            <a:avLst/>
          </a:prstGeom>
          <a:noFill/>
          <a:ln>
            <a:noFill/>
          </a:ln>
        </p:spPr>
        <p:txBody>
          <a:bodyPr wrap="square" lIns="91440" tIns="45720" rIns="91440" bIns="45720" rtlCol="0" anchor="t">
            <a:spAutoFit/>
          </a:bodyPr>
          <a:lstStyle/>
          <a:p>
            <a:r>
              <a:rPr lang="en-US" altLang="zh-CN" sz="3200" b="1">
                <a:ln w="3175">
                  <a:gradFill>
                    <a:gsLst>
                      <a:gs pos="0">
                        <a:srgbClr val="FAD0B5"/>
                      </a:gs>
                      <a:gs pos="70000">
                        <a:srgbClr val="F7E7E1">
                          <a:alpha val="0"/>
                        </a:srgbClr>
                      </a:gs>
                    </a:gsLst>
                    <a:lin ang="5400000" scaled="1"/>
                  </a:gradFill>
                </a:ln>
                <a:noFill/>
                <a:latin typeface="Open Sans"/>
                <a:ea typeface="Open Sans"/>
                <a:cs typeface="Philosopher" panose="00000500000000000000" charset="0"/>
                <a:sym typeface="Open Sans" panose="020B0606030504020204" charset="0"/>
              </a:rPr>
              <a:t>PROJECT PRESENTATION</a:t>
            </a:r>
            <a:endParaRPr lang="en-US" altLang="zh-CN" sz="3200" b="1" dirty="0">
              <a:ln w="3175">
                <a:gradFill>
                  <a:gsLst>
                    <a:gs pos="0">
                      <a:srgbClr val="FAD0B5"/>
                    </a:gs>
                    <a:gs pos="70000">
                      <a:srgbClr val="F7E7E1">
                        <a:alpha val="0"/>
                      </a:srgbClr>
                    </a:gs>
                  </a:gsLst>
                  <a:lin ang="5400000" scaled="1"/>
                </a:gradFill>
              </a:ln>
              <a:noFill/>
              <a:latin typeface="Open Sans"/>
              <a:ea typeface="Open Sans"/>
              <a:cs typeface="Philosopher" panose="00000500000000000000" charset="0"/>
              <a:sym typeface="Open Sans" panose="020B0606030504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xit" presetSubtype="4" fill="hold" grpId="0" nodeType="afterEffect">
                                  <p:stCondLst>
                                    <p:cond delay="0"/>
                                  </p:stCondLst>
                                  <p:childTnLst>
                                    <p:animEffect transition="out" filter="wipe(down)">
                                      <p:cBhvr>
                                        <p:cTn id="6" dur="500"/>
                                        <p:tgtEl>
                                          <p:spTgt spid="57"/>
                                        </p:tgtEl>
                                      </p:cBhvr>
                                    </p:animEffect>
                                    <p:set>
                                      <p:cBhvr>
                                        <p:cTn id="7" dur="1" fill="hold">
                                          <p:stCondLst>
                                            <p:cond delay="499"/>
                                          </p:stCondLst>
                                        </p:cTn>
                                        <p:tgtEl>
                                          <p:spTgt spid="57"/>
                                        </p:tgtEl>
                                        <p:attrNameLst>
                                          <p:attrName>style.visibility</p:attrName>
                                        </p:attrNameLst>
                                      </p:cBhvr>
                                      <p:to>
                                        <p:strVal val="hidden"/>
                                      </p:to>
                                    </p:set>
                                  </p:childTnLst>
                                </p:cTn>
                              </p:par>
                            </p:childTnLst>
                          </p:cTn>
                        </p:par>
                        <p:par>
                          <p:cTn id="8" fill="hold">
                            <p:stCondLst>
                              <p:cond delay="500"/>
                            </p:stCondLst>
                            <p:childTnLst>
                              <p:par>
                                <p:cTn id="9" presetID="22" presetClass="exit" presetSubtype="4" fill="hold" grpId="0" nodeType="afterEffect">
                                  <p:stCondLst>
                                    <p:cond delay="0"/>
                                  </p:stCondLst>
                                  <p:childTnLst>
                                    <p:animEffect transition="out" filter="wipe(down)">
                                      <p:cBhvr>
                                        <p:cTn id="10" dur="500"/>
                                        <p:tgtEl>
                                          <p:spTgt spid="41"/>
                                        </p:tgtEl>
                                      </p:cBhvr>
                                    </p:animEffect>
                                    <p:set>
                                      <p:cBhvr>
                                        <p:cTn id="11" dur="1" fill="hold">
                                          <p:stCondLst>
                                            <p:cond delay="499"/>
                                          </p:stCondLst>
                                        </p:cTn>
                                        <p:tgtEl>
                                          <p:spTgt spid="41"/>
                                        </p:tgtEl>
                                        <p:attrNameLst>
                                          <p:attrName>style.visibility</p:attrName>
                                        </p:attrNameLst>
                                      </p:cBhvr>
                                      <p:to>
                                        <p:strVal val="hidden"/>
                                      </p:to>
                                    </p:set>
                                  </p:childTnLst>
                                </p:cTn>
                              </p:par>
                            </p:childTnLst>
                          </p:cTn>
                        </p:par>
                        <p:par>
                          <p:cTn id="12" fill="hold">
                            <p:stCondLst>
                              <p:cond delay="1000"/>
                            </p:stCondLst>
                            <p:childTnLst>
                              <p:par>
                                <p:cTn id="13" presetID="22" presetClass="exit" presetSubtype="4" fill="hold" grpId="0" nodeType="afterEffect">
                                  <p:stCondLst>
                                    <p:cond delay="0"/>
                                  </p:stCondLst>
                                  <p:childTnLst>
                                    <p:animEffect transition="out" filter="wipe(down)">
                                      <p:cBhvr>
                                        <p:cTn id="14" dur="500"/>
                                        <p:tgtEl>
                                          <p:spTgt spid="59"/>
                                        </p:tgtEl>
                                      </p:cBhvr>
                                    </p:animEffect>
                                    <p:set>
                                      <p:cBhvr>
                                        <p:cTn id="15" dur="1" fill="hold">
                                          <p:stCondLst>
                                            <p:cond delay="499"/>
                                          </p:stCondLst>
                                        </p:cTn>
                                        <p:tgtEl>
                                          <p:spTgt spid="59"/>
                                        </p:tgtEl>
                                        <p:attrNameLst>
                                          <p:attrName>style.visibility</p:attrName>
                                        </p:attrNameLst>
                                      </p:cBhvr>
                                      <p:to>
                                        <p:strVal val="hidden"/>
                                      </p:to>
                                    </p:set>
                                  </p:childTnLst>
                                </p:cTn>
                              </p:par>
                            </p:childTnLst>
                          </p:cTn>
                        </p:par>
                        <p:par>
                          <p:cTn id="16" fill="hold">
                            <p:stCondLst>
                              <p:cond delay="1500"/>
                            </p:stCondLst>
                            <p:childTnLst>
                              <p:par>
                                <p:cTn id="17" presetID="10" presetClass="exit" presetSubtype="0" fill="hold" grpId="0" nodeType="afterEffect">
                                  <p:stCondLst>
                                    <p:cond delay="0"/>
                                  </p:stCondLst>
                                  <p:childTnLst>
                                    <p:animEffect transition="out" filter="fade">
                                      <p:cBhvr>
                                        <p:cTn id="18" dur="500"/>
                                        <p:tgtEl>
                                          <p:spTgt spid="54"/>
                                        </p:tgtEl>
                                      </p:cBhvr>
                                    </p:animEffect>
                                    <p:set>
                                      <p:cBhvr>
                                        <p:cTn id="19" dur="1" fill="hold">
                                          <p:stCondLst>
                                            <p:cond delay="499"/>
                                          </p:stCondLst>
                                        </p:cTn>
                                        <p:tgtEl>
                                          <p:spTgt spid="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4" grpId="0" animBg="1"/>
      <p:bldP spid="57" grpId="0"/>
      <p:bldP spid="59" grpId="0"/>
    </p:bld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较窄&quot;,&quot;Kind&quot;:&quot;System&quot;,&quot;OldGuidesSetting&quot;:{&quot;HeaderHeight&quot;:10.0,&quot;FooterHeight&quot;:5.0,&quot;SideMargin&quot;:2.5,&quot;TopMargin&quot;:0.0,&quot;BottomMargin&quot;:0.0,&quot;IntervalMargin&quot;:1.0}}"/>
  <p:tag name="COMMONDATA" val="eyJoZGlkIjoiMmNmYmEwOWQ4Y2Q0M2IxMGZkNjI4ZjhkZDQyNzg1OTYifQ=="/>
  <p:tag name="KSO_WPP_MARK_KEY" val="aa8c7646-61de-48a2-bdbc-d3e5c7c21b55"/>
</p:tagLst>
</file>

<file path=ppt/theme/theme1.xml><?xml version="1.0" encoding="utf-8"?>
<a:theme xmlns:a="http://schemas.openxmlformats.org/drawingml/2006/main" name="Office 主题​​">
  <a:themeElements>
    <a:clrScheme name="自定义 951">
      <a:dk1>
        <a:sysClr val="windowText" lastClr="000000"/>
      </a:dk1>
      <a:lt1>
        <a:sysClr val="window" lastClr="FFFFFF"/>
      </a:lt1>
      <a:dk2>
        <a:srgbClr val="000000"/>
      </a:dk2>
      <a:lt2>
        <a:srgbClr val="F8F8F8"/>
      </a:lt2>
      <a:accent1>
        <a:srgbClr val="FCC896"/>
      </a:accent1>
      <a:accent2>
        <a:srgbClr val="E0A366"/>
      </a:accent2>
      <a:accent3>
        <a:srgbClr val="3F3F3F"/>
      </a:accent3>
      <a:accent4>
        <a:srgbClr val="595959"/>
      </a:accent4>
      <a:accent5>
        <a:srgbClr val="5F5F5F"/>
      </a:accent5>
      <a:accent6>
        <a:srgbClr val="4D4D4D"/>
      </a:accent6>
      <a:hlink>
        <a:srgbClr val="000000"/>
      </a:hlink>
      <a:folHlink>
        <a:srgbClr val="919191"/>
      </a:folHlink>
    </a:clrScheme>
    <a:fontScheme name="2022采购宋体思源宋体 CN Heavy">
      <a:majorFont>
        <a:latin typeface="Open Sans"/>
        <a:ea typeface="Philosopher"/>
        <a:cs typeface=""/>
      </a:majorFont>
      <a:minorFont>
        <a:latin typeface="Open Sans"/>
        <a:ea typeface="Open Sans"/>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Open Sans"/>
        <a:ea typeface=""/>
        <a:cs typeface=""/>
        <a:font script="Jpan" typeface="ＭＳ Ｐゴシック"/>
        <a:font script="Hang" typeface="맑은 고딕"/>
        <a:font script="Hans" typeface="Open Sans"/>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
        <a:cs typeface=""/>
        <a:font script="Jpan" typeface="ＭＳ Ｐゴシック"/>
        <a:font script="Hang" typeface="맑은 고딕"/>
        <a:font script="Hans" typeface="Open Sans"/>
        <a:font script="Hant" typeface="新細明體"/>
        <a:font script="Arab" typeface="Philosopher"/>
        <a:font script="Hebr" typeface="Philosophe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Philosophe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Open Sans"/>
        <a:ea typeface=""/>
        <a:cs typeface=""/>
        <a:font script="Jpan" typeface="ＭＳ Ｐゴシック"/>
        <a:font script="Hang" typeface="맑은 고딕"/>
        <a:font script="Hans" typeface="Open Sans"/>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
        <a:cs typeface=""/>
        <a:font script="Jpan" typeface="ＭＳ Ｐゴシック"/>
        <a:font script="Hang" typeface="맑은 고딕"/>
        <a:font script="Hans" typeface="Open Sans"/>
        <a:font script="Hant" typeface="新細明體"/>
        <a:font script="Arab" typeface="Philosopher"/>
        <a:font script="Hebr" typeface="Philosophe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Philosophe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商务风通用营销策划模板</Template>
  <TotalTime>0</TotalTime>
  <Words>6661</Words>
  <Application>Microsoft Office PowerPoint</Application>
  <PresentationFormat>On-screen Show (16:9)</PresentationFormat>
  <Paragraphs>402</Paragraphs>
  <Slides>14</Slides>
  <Notes>12</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哒哒 熊猫</dc:creator>
  <cp:lastModifiedBy>Vance Rosemary</cp:lastModifiedBy>
  <cp:revision>667</cp:revision>
  <dcterms:created xsi:type="dcterms:W3CDTF">2022-06-22T06:53:00Z</dcterms:created>
  <dcterms:modified xsi:type="dcterms:W3CDTF">2026-05-15T13:45:57Z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72955F727A1B4074800FE2B6C8EA4304_11</vt:lpwstr>
  </property>
  <property fmtid="{D5CDD505-2E9C-101B-9397-08002B2CF9AE}" pid="3" name="KSOProductBuildVer">
    <vt:lpwstr>1033-12.1.0.26372</vt:lpwstr>
  </property>
</Properties>
</file>